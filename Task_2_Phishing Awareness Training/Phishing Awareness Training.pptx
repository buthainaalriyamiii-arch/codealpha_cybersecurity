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Poppins Bold" charset="1" panose="00000800000000000000"/>
      <p:regular r:id="rId23"/>
    </p:embeddedFont>
    <p:embeddedFont>
      <p:font typeface="Garet" charset="1" panose="00000000000000000000"/>
      <p:regular r:id="rId24"/>
    </p:embeddedFont>
    <p:embeddedFont>
      <p:font typeface="Aileron Bold" charset="1" panose="00000800000000000000"/>
      <p:regular r:id="rId25"/>
    </p:embeddedFont>
    <p:embeddedFont>
      <p:font typeface="Aileron" charset="1" panose="00000500000000000000"/>
      <p:regular r:id="rId26"/>
    </p:embeddedFont>
    <p:embeddedFont>
      <p:font typeface="Garet Bold" charset="1" panose="00000000000000000000"/>
      <p:regular r:id="rId27"/>
    </p:embeddedFont>
    <p:embeddedFont>
      <p:font typeface="Poppins Ultra-Bold" charset="1" panose="00000900000000000000"/>
      <p:regular r:id="rId28"/>
    </p:embeddedFont>
    <p:embeddedFont>
      <p:font typeface="Proxima Nova Bold" charset="1" panose="02000506030000020004"/>
      <p:regular r:id="rId29"/>
    </p:embeddedFont>
    <p:embeddedFont>
      <p:font typeface="Proxima Nova" charset="1" panose="02000506030000020004"/>
      <p:regular r:id="rId30"/>
    </p:embeddedFont>
    <p:embeddedFont>
      <p:font typeface="Poppins" charset="1" panose="000005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svg" Type="http://schemas.openxmlformats.org/officeDocument/2006/relationships/image"/><Relationship Id="rId11" Target="../media/image19.png" Type="http://schemas.openxmlformats.org/officeDocument/2006/relationships/image"/><Relationship Id="rId12" Target="../media/image20.svg" Type="http://schemas.openxmlformats.org/officeDocument/2006/relationships/image"/><Relationship Id="rId13" Target="../media/image21.png" Type="http://schemas.openxmlformats.org/officeDocument/2006/relationships/image"/><Relationship Id="rId14" Target="../media/image22.svg" Type="http://schemas.openxmlformats.org/officeDocument/2006/relationships/image"/><Relationship Id="rId15" Target="../media/image23.png" Type="http://schemas.openxmlformats.org/officeDocument/2006/relationships/image"/><Relationship Id="rId16" Target="../media/image24.svg" Type="http://schemas.openxmlformats.org/officeDocument/2006/relationships/image"/><Relationship Id="rId17" Target="../media/image25.png" Type="http://schemas.openxmlformats.org/officeDocument/2006/relationships/image"/><Relationship Id="rId18" Target="../media/image26.svg" Type="http://schemas.openxmlformats.org/officeDocument/2006/relationships/image"/><Relationship Id="rId19" Target="../media/image27.png" Type="http://schemas.openxmlformats.org/officeDocument/2006/relationships/image"/><Relationship Id="rId2" Target="../media/image3.png" Type="http://schemas.openxmlformats.org/officeDocument/2006/relationships/image"/><Relationship Id="rId20" Target="../media/image28.svg" Type="http://schemas.openxmlformats.org/officeDocument/2006/relationships/image"/><Relationship Id="rId3" Target="../media/image4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svg" Type="http://schemas.openxmlformats.org/officeDocument/2006/relationships/image"/><Relationship Id="rId12" Target="../media/image37.png" Type="http://schemas.openxmlformats.org/officeDocument/2006/relationships/image"/><Relationship Id="rId13" Target="../media/image38.svg" Type="http://schemas.openxmlformats.org/officeDocument/2006/relationships/image"/><Relationship Id="rId14" Target="../media/image11.png" Type="http://schemas.openxmlformats.org/officeDocument/2006/relationships/image"/><Relationship Id="rId15" Target="../media/image12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33.png" Type="http://schemas.openxmlformats.org/officeDocument/2006/relationships/image"/><Relationship Id="rId9" Target="../media/image3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png" Type="http://schemas.openxmlformats.org/officeDocument/2006/relationships/image"/><Relationship Id="rId11" Target="../media/image44.svg" Type="http://schemas.openxmlformats.org/officeDocument/2006/relationships/image"/><Relationship Id="rId12" Target="../media/image45.png" Type="http://schemas.openxmlformats.org/officeDocument/2006/relationships/image"/><Relationship Id="rId13" Target="../media/image46.svg" Type="http://schemas.openxmlformats.org/officeDocument/2006/relationships/image"/><Relationship Id="rId14" Target="../media/image23.png" Type="http://schemas.openxmlformats.org/officeDocument/2006/relationships/image"/><Relationship Id="rId15" Target="../media/image24.svg" Type="http://schemas.openxmlformats.org/officeDocument/2006/relationships/image"/><Relationship Id="rId16" Target="../media/image47.png" Type="http://schemas.openxmlformats.org/officeDocument/2006/relationships/image"/><Relationship Id="rId17" Target="../media/image48.svg" Type="http://schemas.openxmlformats.org/officeDocument/2006/relationships/image"/><Relationship Id="rId18" Target="../media/image21.png" Type="http://schemas.openxmlformats.org/officeDocument/2006/relationships/image"/><Relationship Id="rId19" Target="../media/image22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Relationship Id="rId8" Target="../media/image41.png" Type="http://schemas.openxmlformats.org/officeDocument/2006/relationships/image"/><Relationship Id="rId9" Target="../media/image4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5.png" Type="http://schemas.openxmlformats.org/officeDocument/2006/relationships/image"/><Relationship Id="rId7" Target="../media/image49.png" Type="http://schemas.openxmlformats.org/officeDocument/2006/relationships/image"/><Relationship Id="rId8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2.png" Type="http://schemas.openxmlformats.org/officeDocument/2006/relationships/image"/><Relationship Id="rId11" Target="../media/image53.svg" Type="http://schemas.openxmlformats.org/officeDocument/2006/relationships/image"/><Relationship Id="rId12" Target="../media/image54.png" Type="http://schemas.openxmlformats.org/officeDocument/2006/relationships/image"/><Relationship Id="rId13" Target="../media/image55.svg" Type="http://schemas.openxmlformats.org/officeDocument/2006/relationships/image"/><Relationship Id="rId14" Target="../media/image56.png" Type="http://schemas.openxmlformats.org/officeDocument/2006/relationships/image"/><Relationship Id="rId15" Target="../media/image57.svg" Type="http://schemas.openxmlformats.org/officeDocument/2006/relationships/image"/><Relationship Id="rId16" Target="../media/image58.png" Type="http://schemas.openxmlformats.org/officeDocument/2006/relationships/image"/><Relationship Id="rId17" Target="../media/image59.svg" Type="http://schemas.openxmlformats.org/officeDocument/2006/relationships/image"/><Relationship Id="rId18" Target="../media/image60.png" Type="http://schemas.openxmlformats.org/officeDocument/2006/relationships/image"/><Relationship Id="rId19" Target="../media/image61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0.png" Type="http://schemas.openxmlformats.org/officeDocument/2006/relationships/image"/><Relationship Id="rId7" Target="../media/image14.png" Type="http://schemas.openxmlformats.org/officeDocument/2006/relationships/image"/><Relationship Id="rId8" Target="../media/image50.png" Type="http://schemas.openxmlformats.org/officeDocument/2006/relationships/image"/><Relationship Id="rId9" Target="../media/image5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4.png" Type="http://schemas.openxmlformats.org/officeDocument/2006/relationships/image"/><Relationship Id="rId7" Target="../media/image62.png" Type="http://schemas.openxmlformats.org/officeDocument/2006/relationships/image"/><Relationship Id="rId8" Target="../media/image63.svg" Type="http://schemas.openxmlformats.org/officeDocument/2006/relationships/image"/><Relationship Id="rId9" Target="../media/image6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4.png" Type="http://schemas.openxmlformats.org/officeDocument/2006/relationships/image"/><Relationship Id="rId7" Target="../media/image62.png" Type="http://schemas.openxmlformats.org/officeDocument/2006/relationships/image"/><Relationship Id="rId8" Target="../media/image63.svg" Type="http://schemas.openxmlformats.org/officeDocument/2006/relationships/image"/><Relationship Id="rId9" Target="../media/image6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66.png" Type="http://schemas.openxmlformats.org/officeDocument/2006/relationships/image"/><Relationship Id="rId7" Target="../media/image67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mailto:support@paypa1-security.com" TargetMode="External" Type="http://schemas.openxmlformats.org/officeDocument/2006/relationships/hyperlink"/><Relationship Id="rId11" Target="../media/image72.png" Type="http://schemas.openxmlformats.org/officeDocument/2006/relationships/image"/><Relationship Id="rId12" Target="../media/image73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68.png" Type="http://schemas.openxmlformats.org/officeDocument/2006/relationships/image"/><Relationship Id="rId7" Target="../media/image69.svg" Type="http://schemas.openxmlformats.org/officeDocument/2006/relationships/image"/><Relationship Id="rId8" Target="../media/image70.png" Type="http://schemas.openxmlformats.org/officeDocument/2006/relationships/image"/><Relationship Id="rId9" Target="../media/image71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72.png" Type="http://schemas.openxmlformats.org/officeDocument/2006/relationships/image"/><Relationship Id="rId7" Target="../media/image73.svg" Type="http://schemas.openxmlformats.org/officeDocument/2006/relationships/image"/><Relationship Id="rId8" Target="../media/image74.png" Type="http://schemas.openxmlformats.org/officeDocument/2006/relationships/image"/><Relationship Id="rId9" Target="../media/image75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76.png" Type="http://schemas.openxmlformats.org/officeDocument/2006/relationships/image"/><Relationship Id="rId7" Target="../media/image77.svg" Type="http://schemas.openxmlformats.org/officeDocument/2006/relationships/image"/><Relationship Id="rId8" Target="../media/image78.png" Type="http://schemas.openxmlformats.org/officeDocument/2006/relationships/image"/><Relationship Id="rId9" Target="../media/image79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consumer.ftc.gov/consumer-alerts/2025/04/protect-yourself-phishing-scams?utm_source=chatgpt.com" TargetMode="External" Type="http://schemas.openxmlformats.org/officeDocument/2006/relationships/hyperlink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https://consumer.ftc.gov/articles/how-recognize-avoid-phishing-scams?utm_source=chatgpt.com" TargetMode="External" Type="http://schemas.openxmlformats.org/officeDocument/2006/relationships/hyperlink"/><Relationship Id="rId7" Target="https://www.fbi.gov/how-we-can-help-you/common-frauds-and-scams/spoofing-and-phishing?utm_source=chatgpt.com" TargetMode="External" Type="http://schemas.openxmlformats.org/officeDocument/2006/relationships/hyperlink"/><Relationship Id="rId8" Target="https://www.fbi.gov/investigate/cyber/alerts/2025/threat-actors-spoofing-the-fbi-ic3-website-for-possible-malicious-activity?utm_source=chatgpt.com" TargetMode="External" Type="http://schemas.openxmlformats.org/officeDocument/2006/relationships/hyperlink"/><Relationship Id="rId9" Target="https://www.fbi.gov/investigate/cyber/alerts/2025/cybercriminals-impersonating-employee-self-service-websites-to-steal-victim-information-and-funds?utm_source=chatgpt.com" TargetMode="External" Type="http://schemas.openxmlformats.org/officeDocument/2006/relationships/hyperlink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89119" y="-2493885"/>
            <a:ext cx="5861921" cy="5422277"/>
          </a:xfrm>
          <a:custGeom>
            <a:avLst/>
            <a:gdLst/>
            <a:ahLst/>
            <a:cxnLst/>
            <a:rect r="r" b="b" t="t" l="l"/>
            <a:pathLst>
              <a:path h="5422277" w="5861921">
                <a:moveTo>
                  <a:pt x="0" y="0"/>
                </a:moveTo>
                <a:lnTo>
                  <a:pt x="5861921" y="0"/>
                </a:lnTo>
                <a:lnTo>
                  <a:pt x="5861921" y="5422277"/>
                </a:lnTo>
                <a:lnTo>
                  <a:pt x="0" y="54222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34741" y="-2290430"/>
            <a:ext cx="14653207" cy="13920547"/>
          </a:xfrm>
          <a:custGeom>
            <a:avLst/>
            <a:gdLst/>
            <a:ahLst/>
            <a:cxnLst/>
            <a:rect r="r" b="b" t="t" l="l"/>
            <a:pathLst>
              <a:path h="13920547" w="14653207">
                <a:moveTo>
                  <a:pt x="0" y="0"/>
                </a:moveTo>
                <a:lnTo>
                  <a:pt x="14653207" y="0"/>
                </a:lnTo>
                <a:lnTo>
                  <a:pt x="14653207" y="13920547"/>
                </a:lnTo>
                <a:lnTo>
                  <a:pt x="0" y="139205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212731" y="3059131"/>
            <a:ext cx="9876388" cy="3252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47"/>
              </a:lnSpc>
            </a:pPr>
            <a:r>
              <a:rPr lang="en-US" sz="9357" b="tru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Phishing Awar</a:t>
            </a:r>
            <a:r>
              <a:rPr lang="en-US" b="true" sz="9357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eness Training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945460">
            <a:off x="3374134" y="1179619"/>
            <a:ext cx="1852868" cy="2108527"/>
          </a:xfrm>
          <a:custGeom>
            <a:avLst/>
            <a:gdLst/>
            <a:ahLst/>
            <a:cxnLst/>
            <a:rect r="r" b="b" t="t" l="l"/>
            <a:pathLst>
              <a:path h="2108527" w="1852868">
                <a:moveTo>
                  <a:pt x="0" y="0"/>
                </a:moveTo>
                <a:lnTo>
                  <a:pt x="1852868" y="0"/>
                </a:lnTo>
                <a:lnTo>
                  <a:pt x="1852868" y="2108527"/>
                </a:lnTo>
                <a:lnTo>
                  <a:pt x="0" y="21085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21797" y="3913433"/>
            <a:ext cx="2419338" cy="2231840"/>
          </a:xfrm>
          <a:custGeom>
            <a:avLst/>
            <a:gdLst/>
            <a:ahLst/>
            <a:cxnLst/>
            <a:rect r="r" b="b" t="t" l="l"/>
            <a:pathLst>
              <a:path h="2231840" w="2419338">
                <a:moveTo>
                  <a:pt x="0" y="0"/>
                </a:moveTo>
                <a:lnTo>
                  <a:pt x="2419338" y="0"/>
                </a:lnTo>
                <a:lnTo>
                  <a:pt x="2419338" y="2231840"/>
                </a:lnTo>
                <a:lnTo>
                  <a:pt x="0" y="22318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295897" y="7470862"/>
            <a:ext cx="2517484" cy="2202798"/>
          </a:xfrm>
          <a:custGeom>
            <a:avLst/>
            <a:gdLst/>
            <a:ahLst/>
            <a:cxnLst/>
            <a:rect r="r" b="b" t="t" l="l"/>
            <a:pathLst>
              <a:path h="2202798" w="2517484">
                <a:moveTo>
                  <a:pt x="0" y="0"/>
                </a:moveTo>
                <a:lnTo>
                  <a:pt x="2517483" y="0"/>
                </a:lnTo>
                <a:lnTo>
                  <a:pt x="2517483" y="2202798"/>
                </a:lnTo>
                <a:lnTo>
                  <a:pt x="0" y="220279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782656" y="7565834"/>
            <a:ext cx="2236401" cy="2074262"/>
          </a:xfrm>
          <a:custGeom>
            <a:avLst/>
            <a:gdLst/>
            <a:ahLst/>
            <a:cxnLst/>
            <a:rect r="r" b="b" t="t" l="l"/>
            <a:pathLst>
              <a:path h="2074262" w="2236401">
                <a:moveTo>
                  <a:pt x="0" y="0"/>
                </a:moveTo>
                <a:lnTo>
                  <a:pt x="2236401" y="0"/>
                </a:lnTo>
                <a:lnTo>
                  <a:pt x="2236401" y="2074262"/>
                </a:lnTo>
                <a:lnTo>
                  <a:pt x="0" y="20742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82586" y="4391379"/>
            <a:ext cx="2607344" cy="2558456"/>
          </a:xfrm>
          <a:custGeom>
            <a:avLst/>
            <a:gdLst/>
            <a:ahLst/>
            <a:cxnLst/>
            <a:rect r="r" b="b" t="t" l="l"/>
            <a:pathLst>
              <a:path h="2558456" w="2607344">
                <a:moveTo>
                  <a:pt x="0" y="0"/>
                </a:moveTo>
                <a:lnTo>
                  <a:pt x="2607344" y="0"/>
                </a:lnTo>
                <a:lnTo>
                  <a:pt x="2607344" y="2558456"/>
                </a:lnTo>
                <a:lnTo>
                  <a:pt x="0" y="255845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1142779">
            <a:off x="12419578" y="1028700"/>
            <a:ext cx="1997584" cy="1618043"/>
          </a:xfrm>
          <a:custGeom>
            <a:avLst/>
            <a:gdLst/>
            <a:ahLst/>
            <a:cxnLst/>
            <a:rect r="r" b="b" t="t" l="l"/>
            <a:pathLst>
              <a:path h="1618043" w="1997584">
                <a:moveTo>
                  <a:pt x="0" y="0"/>
                </a:moveTo>
                <a:lnTo>
                  <a:pt x="1997584" y="0"/>
                </a:lnTo>
                <a:lnTo>
                  <a:pt x="1997584" y="1618043"/>
                </a:lnTo>
                <a:lnTo>
                  <a:pt x="0" y="161804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84246" y="7924618"/>
            <a:ext cx="1700989" cy="417515"/>
          </a:xfrm>
          <a:custGeom>
            <a:avLst/>
            <a:gdLst/>
            <a:ahLst/>
            <a:cxnLst/>
            <a:rect r="r" b="b" t="t" l="l"/>
            <a:pathLst>
              <a:path h="417515" w="1700989">
                <a:moveTo>
                  <a:pt x="0" y="0"/>
                </a:moveTo>
                <a:lnTo>
                  <a:pt x="1700989" y="0"/>
                </a:lnTo>
                <a:lnTo>
                  <a:pt x="1700989" y="417515"/>
                </a:lnTo>
                <a:lnTo>
                  <a:pt x="0" y="4175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821797" y="-416188"/>
            <a:ext cx="3344580" cy="3344580"/>
          </a:xfrm>
          <a:custGeom>
            <a:avLst/>
            <a:gdLst/>
            <a:ahLst/>
            <a:cxnLst/>
            <a:rect r="r" b="b" t="t" l="l"/>
            <a:pathLst>
              <a:path h="3344580" w="3344580">
                <a:moveTo>
                  <a:pt x="0" y="0"/>
                </a:moveTo>
                <a:lnTo>
                  <a:pt x="3344580" y="0"/>
                </a:lnTo>
                <a:lnTo>
                  <a:pt x="3344580" y="3344580"/>
                </a:lnTo>
                <a:lnTo>
                  <a:pt x="0" y="334458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497057" y="6468306"/>
            <a:ext cx="7307736" cy="461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2"/>
              </a:lnSpc>
            </a:pPr>
            <a:r>
              <a:rPr lang="en-US" sz="3060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Prepared by: Buthaina AL-Riyami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4741" y="-2290430"/>
            <a:ext cx="14653207" cy="13920547"/>
          </a:xfrm>
          <a:custGeom>
            <a:avLst/>
            <a:gdLst/>
            <a:ahLst/>
            <a:cxnLst/>
            <a:rect r="r" b="b" t="t" l="l"/>
            <a:pathLst>
              <a:path h="13920547" w="14653207">
                <a:moveTo>
                  <a:pt x="0" y="0"/>
                </a:moveTo>
                <a:lnTo>
                  <a:pt x="14653207" y="0"/>
                </a:lnTo>
                <a:lnTo>
                  <a:pt x="14653207" y="13920547"/>
                </a:lnTo>
                <a:lnTo>
                  <a:pt x="0" y="139205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069769" y="3501524"/>
            <a:ext cx="10234639" cy="2115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18"/>
              </a:lnSpc>
            </a:pPr>
            <a:r>
              <a:rPr lang="en-US" sz="8872" b="tru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What is Phi</a:t>
            </a:r>
            <a:r>
              <a:rPr lang="en-US" b="true" sz="8872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shing?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057939" y="6275659"/>
            <a:ext cx="8258299" cy="1979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8"/>
              </a:lnSpc>
            </a:pPr>
            <a:r>
              <a:rPr lang="en-US" sz="2640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Phishing is a type of cybera</a:t>
            </a:r>
            <a:r>
              <a:rPr lang="en-US" sz="2640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ttack that uses deceptive messages, websites, or other communication methods to trick people into revealing sensitive information or performing an unsafe action.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941274" y="2036882"/>
            <a:ext cx="1700989" cy="417515"/>
          </a:xfrm>
          <a:custGeom>
            <a:avLst/>
            <a:gdLst/>
            <a:ahLst/>
            <a:cxnLst/>
            <a:rect r="r" b="b" t="t" l="l"/>
            <a:pathLst>
              <a:path h="417515" w="1700989">
                <a:moveTo>
                  <a:pt x="0" y="0"/>
                </a:moveTo>
                <a:lnTo>
                  <a:pt x="1700989" y="0"/>
                </a:lnTo>
                <a:lnTo>
                  <a:pt x="1700989" y="417515"/>
                </a:lnTo>
                <a:lnTo>
                  <a:pt x="0" y="4175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04995" y="4308181"/>
            <a:ext cx="1700989" cy="417515"/>
          </a:xfrm>
          <a:custGeom>
            <a:avLst/>
            <a:gdLst/>
            <a:ahLst/>
            <a:cxnLst/>
            <a:rect r="r" b="b" t="t" l="l"/>
            <a:pathLst>
              <a:path h="417515" w="1700989">
                <a:moveTo>
                  <a:pt x="0" y="0"/>
                </a:moveTo>
                <a:lnTo>
                  <a:pt x="1700989" y="0"/>
                </a:lnTo>
                <a:lnTo>
                  <a:pt x="1700989" y="417515"/>
                </a:lnTo>
                <a:lnTo>
                  <a:pt x="0" y="4175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102316" y="8894882"/>
            <a:ext cx="1700989" cy="417515"/>
          </a:xfrm>
          <a:custGeom>
            <a:avLst/>
            <a:gdLst/>
            <a:ahLst/>
            <a:cxnLst/>
            <a:rect r="r" b="b" t="t" l="l"/>
            <a:pathLst>
              <a:path h="417515" w="1700989">
                <a:moveTo>
                  <a:pt x="0" y="0"/>
                </a:moveTo>
                <a:lnTo>
                  <a:pt x="1700989" y="0"/>
                </a:lnTo>
                <a:lnTo>
                  <a:pt x="1700989" y="417515"/>
                </a:lnTo>
                <a:lnTo>
                  <a:pt x="0" y="4175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485235" y="1976912"/>
            <a:ext cx="3721451" cy="4234937"/>
          </a:xfrm>
          <a:custGeom>
            <a:avLst/>
            <a:gdLst/>
            <a:ahLst/>
            <a:cxnLst/>
            <a:rect r="r" b="b" t="t" l="l"/>
            <a:pathLst>
              <a:path h="4234937" w="3721451">
                <a:moveTo>
                  <a:pt x="0" y="0"/>
                </a:moveTo>
                <a:lnTo>
                  <a:pt x="3721451" y="0"/>
                </a:lnTo>
                <a:lnTo>
                  <a:pt x="3721451" y="4234937"/>
                </a:lnTo>
                <a:lnTo>
                  <a:pt x="0" y="42349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13466" y="6071468"/>
            <a:ext cx="1602228" cy="1823303"/>
          </a:xfrm>
          <a:custGeom>
            <a:avLst/>
            <a:gdLst/>
            <a:ahLst/>
            <a:cxnLst/>
            <a:rect r="r" b="b" t="t" l="l"/>
            <a:pathLst>
              <a:path h="1823303" w="1602228">
                <a:moveTo>
                  <a:pt x="0" y="0"/>
                </a:moveTo>
                <a:lnTo>
                  <a:pt x="1602227" y="0"/>
                </a:lnTo>
                <a:lnTo>
                  <a:pt x="1602227" y="1823303"/>
                </a:lnTo>
                <a:lnTo>
                  <a:pt x="0" y="18233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467541" y="6101315"/>
            <a:ext cx="1602228" cy="1823303"/>
          </a:xfrm>
          <a:custGeom>
            <a:avLst/>
            <a:gdLst/>
            <a:ahLst/>
            <a:cxnLst/>
            <a:rect r="r" b="b" t="t" l="l"/>
            <a:pathLst>
              <a:path h="1823303" w="1602228">
                <a:moveTo>
                  <a:pt x="0" y="0"/>
                </a:moveTo>
                <a:lnTo>
                  <a:pt x="1602228" y="0"/>
                </a:lnTo>
                <a:lnTo>
                  <a:pt x="1602228" y="1823303"/>
                </a:lnTo>
                <a:lnTo>
                  <a:pt x="0" y="18233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4741" y="-2290430"/>
            <a:ext cx="14653207" cy="13920547"/>
          </a:xfrm>
          <a:custGeom>
            <a:avLst/>
            <a:gdLst/>
            <a:ahLst/>
            <a:cxnLst/>
            <a:rect r="r" b="b" t="t" l="l"/>
            <a:pathLst>
              <a:path h="13920547" w="14653207">
                <a:moveTo>
                  <a:pt x="0" y="0"/>
                </a:moveTo>
                <a:lnTo>
                  <a:pt x="14653207" y="0"/>
                </a:lnTo>
                <a:lnTo>
                  <a:pt x="14653207" y="13920547"/>
                </a:lnTo>
                <a:lnTo>
                  <a:pt x="0" y="139205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41274" y="2036882"/>
            <a:ext cx="1700989" cy="417515"/>
          </a:xfrm>
          <a:custGeom>
            <a:avLst/>
            <a:gdLst/>
            <a:ahLst/>
            <a:cxnLst/>
            <a:rect r="r" b="b" t="t" l="l"/>
            <a:pathLst>
              <a:path h="417515" w="1700989">
                <a:moveTo>
                  <a:pt x="0" y="0"/>
                </a:moveTo>
                <a:lnTo>
                  <a:pt x="1700989" y="0"/>
                </a:lnTo>
                <a:lnTo>
                  <a:pt x="1700989" y="417515"/>
                </a:lnTo>
                <a:lnTo>
                  <a:pt x="0" y="4175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04995" y="4308181"/>
            <a:ext cx="1700989" cy="417515"/>
          </a:xfrm>
          <a:custGeom>
            <a:avLst/>
            <a:gdLst/>
            <a:ahLst/>
            <a:cxnLst/>
            <a:rect r="r" b="b" t="t" l="l"/>
            <a:pathLst>
              <a:path h="417515" w="1700989">
                <a:moveTo>
                  <a:pt x="0" y="0"/>
                </a:moveTo>
                <a:lnTo>
                  <a:pt x="1700989" y="0"/>
                </a:lnTo>
                <a:lnTo>
                  <a:pt x="1700989" y="417515"/>
                </a:lnTo>
                <a:lnTo>
                  <a:pt x="0" y="4175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102316" y="8894882"/>
            <a:ext cx="1700989" cy="417515"/>
          </a:xfrm>
          <a:custGeom>
            <a:avLst/>
            <a:gdLst/>
            <a:ahLst/>
            <a:cxnLst/>
            <a:rect r="r" b="b" t="t" l="l"/>
            <a:pathLst>
              <a:path h="417515" w="1700989">
                <a:moveTo>
                  <a:pt x="0" y="0"/>
                </a:moveTo>
                <a:lnTo>
                  <a:pt x="1700989" y="0"/>
                </a:lnTo>
                <a:lnTo>
                  <a:pt x="1700989" y="417515"/>
                </a:lnTo>
                <a:lnTo>
                  <a:pt x="0" y="4175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10800000">
            <a:off x="1894318" y="3732878"/>
            <a:ext cx="2834468" cy="4630247"/>
            <a:chOff x="0" y="0"/>
            <a:chExt cx="813733" cy="13292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3733" cy="1329274"/>
            </a:xfrm>
            <a:custGeom>
              <a:avLst/>
              <a:gdLst/>
              <a:ahLst/>
              <a:cxnLst/>
              <a:rect r="r" b="b" t="t" l="l"/>
              <a:pathLst>
                <a:path h="1329274" w="813733">
                  <a:moveTo>
                    <a:pt x="92866" y="0"/>
                  </a:moveTo>
                  <a:lnTo>
                    <a:pt x="720867" y="0"/>
                  </a:lnTo>
                  <a:cubicBezTo>
                    <a:pt x="772155" y="0"/>
                    <a:pt x="813733" y="41577"/>
                    <a:pt x="813733" y="92866"/>
                  </a:cubicBezTo>
                  <a:lnTo>
                    <a:pt x="813733" y="1236408"/>
                  </a:lnTo>
                  <a:cubicBezTo>
                    <a:pt x="813733" y="1287697"/>
                    <a:pt x="772155" y="1329274"/>
                    <a:pt x="720867" y="1329274"/>
                  </a:cubicBezTo>
                  <a:lnTo>
                    <a:pt x="92866" y="1329274"/>
                  </a:lnTo>
                  <a:cubicBezTo>
                    <a:pt x="41577" y="1329274"/>
                    <a:pt x="0" y="1287697"/>
                    <a:pt x="0" y="1236408"/>
                  </a:cubicBezTo>
                  <a:lnTo>
                    <a:pt x="0" y="92866"/>
                  </a:lnTo>
                  <a:cubicBezTo>
                    <a:pt x="0" y="41577"/>
                    <a:pt x="41577" y="0"/>
                    <a:pt x="92866" y="0"/>
                  </a:cubicBezTo>
                  <a:close/>
                </a:path>
              </a:pathLst>
            </a:custGeom>
            <a:solidFill>
              <a:srgbClr val="A2ABD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13733" cy="1367374"/>
            </a:xfrm>
            <a:prstGeom prst="rect">
              <a:avLst/>
            </a:prstGeom>
          </p:spPr>
          <p:txBody>
            <a:bodyPr anchor="ctr" rtlCol="false" tIns="46604" lIns="46604" bIns="46604" rIns="46604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5400000">
            <a:off x="-511948" y="5705696"/>
            <a:ext cx="6420596" cy="684611"/>
          </a:xfrm>
          <a:custGeom>
            <a:avLst/>
            <a:gdLst/>
            <a:ahLst/>
            <a:cxnLst/>
            <a:rect r="r" b="b" t="t" l="l"/>
            <a:pathLst>
              <a:path h="684611" w="6420596">
                <a:moveTo>
                  <a:pt x="0" y="0"/>
                </a:moveTo>
                <a:lnTo>
                  <a:pt x="6420596" y="0"/>
                </a:lnTo>
                <a:lnTo>
                  <a:pt x="6420596" y="684611"/>
                </a:lnTo>
                <a:lnTo>
                  <a:pt x="0" y="6846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678" t="-11032" r="-1678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-5400000">
            <a:off x="-151804" y="5780595"/>
            <a:ext cx="5020763" cy="278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b="true" sz="1866">
                <a:solidFill>
                  <a:srgbClr val="191919"/>
                </a:solidFill>
                <a:latin typeface="Aileron Bold"/>
                <a:ea typeface="Aileron Bold"/>
                <a:cs typeface="Aileron Bold"/>
                <a:sym typeface="Aileron Bold"/>
              </a:rPr>
              <a:t>At</a:t>
            </a:r>
            <a:r>
              <a:rPr lang="en-US" b="true" sz="1866">
                <a:solidFill>
                  <a:srgbClr val="191919"/>
                </a:solidFill>
                <a:latin typeface="Aileron Bold"/>
                <a:ea typeface="Aileron Bold"/>
                <a:cs typeface="Aileron Bold"/>
                <a:sym typeface="Aileron Bold"/>
              </a:rPr>
              <a:t>tackers may try to steal:</a:t>
            </a:r>
          </a:p>
        </p:txBody>
      </p:sp>
      <p:grpSp>
        <p:nvGrpSpPr>
          <p:cNvPr name="Group 11" id="11"/>
          <p:cNvGrpSpPr/>
          <p:nvPr/>
        </p:nvGrpSpPr>
        <p:grpSpPr>
          <a:xfrm rot="-10800000">
            <a:off x="2694053" y="2837704"/>
            <a:ext cx="6017698" cy="6420596"/>
            <a:chOff x="0" y="0"/>
            <a:chExt cx="1727590" cy="184325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27590" cy="1843256"/>
            </a:xfrm>
            <a:custGeom>
              <a:avLst/>
              <a:gdLst/>
              <a:ahLst/>
              <a:cxnLst/>
              <a:rect r="r" b="b" t="t" l="l"/>
              <a:pathLst>
                <a:path h="1843256" w="1727590">
                  <a:moveTo>
                    <a:pt x="43742" y="0"/>
                  </a:moveTo>
                  <a:lnTo>
                    <a:pt x="1683848" y="0"/>
                  </a:lnTo>
                  <a:cubicBezTo>
                    <a:pt x="1708006" y="0"/>
                    <a:pt x="1727590" y="19584"/>
                    <a:pt x="1727590" y="43742"/>
                  </a:cubicBezTo>
                  <a:lnTo>
                    <a:pt x="1727590" y="1799514"/>
                  </a:lnTo>
                  <a:cubicBezTo>
                    <a:pt x="1727590" y="1811115"/>
                    <a:pt x="1722982" y="1822241"/>
                    <a:pt x="1714779" y="1830445"/>
                  </a:cubicBezTo>
                  <a:cubicBezTo>
                    <a:pt x="1706575" y="1838648"/>
                    <a:pt x="1695449" y="1843256"/>
                    <a:pt x="1683848" y="1843256"/>
                  </a:cubicBezTo>
                  <a:lnTo>
                    <a:pt x="43742" y="1843256"/>
                  </a:lnTo>
                  <a:cubicBezTo>
                    <a:pt x="19584" y="1843256"/>
                    <a:pt x="0" y="1823672"/>
                    <a:pt x="0" y="1799514"/>
                  </a:cubicBezTo>
                  <a:lnTo>
                    <a:pt x="0" y="43742"/>
                  </a:lnTo>
                  <a:cubicBezTo>
                    <a:pt x="0" y="19584"/>
                    <a:pt x="19584" y="0"/>
                    <a:pt x="4374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727590" cy="1881356"/>
            </a:xfrm>
            <a:prstGeom prst="rect">
              <a:avLst/>
            </a:prstGeom>
          </p:spPr>
          <p:txBody>
            <a:bodyPr anchor="ctr" rtlCol="false" tIns="62008" lIns="62008" bIns="62008" rIns="62008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311552" y="3741473"/>
            <a:ext cx="4749989" cy="4121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9232" indent="-284616" lvl="1">
              <a:lnSpc>
                <a:spcPts val="3691"/>
              </a:lnSpc>
              <a:buFont typeface="Arial"/>
              <a:buChar char="•"/>
            </a:pPr>
            <a:r>
              <a:rPr lang="en-US" sz="263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Us</a:t>
            </a:r>
            <a:r>
              <a:rPr lang="en-US" sz="263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ernames and passwords</a:t>
            </a:r>
          </a:p>
          <a:p>
            <a:pPr algn="l" marL="569232" indent="-284616" lvl="1">
              <a:lnSpc>
                <a:spcPts val="3691"/>
              </a:lnSpc>
              <a:buFont typeface="Arial"/>
              <a:buChar char="•"/>
            </a:pPr>
            <a:r>
              <a:rPr lang="en-US" sz="263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Banki</a:t>
            </a:r>
            <a:r>
              <a:rPr lang="en-US" sz="2636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ng and payment information</a:t>
            </a:r>
          </a:p>
          <a:p>
            <a:pPr algn="l" marL="569232" indent="-284616" lvl="1">
              <a:lnSpc>
                <a:spcPts val="3691"/>
              </a:lnSpc>
              <a:buFont typeface="Arial"/>
              <a:buChar char="•"/>
            </a:pPr>
            <a:r>
              <a:rPr lang="en-US" sz="2636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Personal information</a:t>
            </a:r>
          </a:p>
          <a:p>
            <a:pPr algn="l" marL="569232" indent="-284616" lvl="1">
              <a:lnSpc>
                <a:spcPts val="3691"/>
              </a:lnSpc>
              <a:buFont typeface="Arial"/>
              <a:buChar char="•"/>
            </a:pPr>
            <a:r>
              <a:rPr lang="en-US" sz="2636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One-Time Passwords (OTPs)</a:t>
            </a:r>
          </a:p>
          <a:p>
            <a:pPr algn="l" marL="569232" indent="-284616" lvl="1">
              <a:lnSpc>
                <a:spcPts val="3691"/>
              </a:lnSpc>
              <a:buFont typeface="Arial"/>
              <a:buChar char="•"/>
            </a:pPr>
            <a:r>
              <a:rPr lang="en-US" sz="2636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Company credentials</a:t>
            </a:r>
          </a:p>
          <a:p>
            <a:pPr algn="l" marL="569232" indent="-284616" lvl="1">
              <a:lnSpc>
                <a:spcPts val="3691"/>
              </a:lnSpc>
              <a:buFont typeface="Arial"/>
              <a:buChar char="•"/>
            </a:pPr>
            <a:r>
              <a:rPr lang="en-US" sz="2636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Sensitive files or data</a:t>
            </a:r>
          </a:p>
          <a:p>
            <a:pPr algn="l">
              <a:lnSpc>
                <a:spcPts val="3691"/>
              </a:lnSpc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-5400000">
            <a:off x="3056035" y="7979436"/>
            <a:ext cx="353934" cy="397679"/>
          </a:xfrm>
          <a:custGeom>
            <a:avLst/>
            <a:gdLst/>
            <a:ahLst/>
            <a:cxnLst/>
            <a:rect r="r" b="b" t="t" l="l"/>
            <a:pathLst>
              <a:path h="397679" w="353934">
                <a:moveTo>
                  <a:pt x="0" y="0"/>
                </a:moveTo>
                <a:lnTo>
                  <a:pt x="353934" y="0"/>
                </a:lnTo>
                <a:lnTo>
                  <a:pt x="353934" y="397678"/>
                </a:lnTo>
                <a:lnTo>
                  <a:pt x="0" y="3976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262729" y="3567841"/>
            <a:ext cx="6379535" cy="4114800"/>
          </a:xfrm>
          <a:custGeom>
            <a:avLst/>
            <a:gdLst/>
            <a:ahLst/>
            <a:cxnLst/>
            <a:rect r="r" b="b" t="t" l="l"/>
            <a:pathLst>
              <a:path h="4114800" w="6379535">
                <a:moveTo>
                  <a:pt x="0" y="0"/>
                </a:moveTo>
                <a:lnTo>
                  <a:pt x="6379534" y="0"/>
                </a:lnTo>
                <a:lnTo>
                  <a:pt x="63795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595507" y="8010833"/>
            <a:ext cx="4784240" cy="884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5"/>
              </a:lnSpc>
            </a:pPr>
            <a:r>
              <a:rPr lang="en-US" sz="1988" b="true">
                <a:solidFill>
                  <a:srgbClr val="1E2443"/>
                </a:solidFill>
                <a:latin typeface="Garet Bold"/>
                <a:ea typeface="Garet Bold"/>
                <a:cs typeface="Garet Bold"/>
                <a:sym typeface="Garet Bold"/>
              </a:rPr>
              <a:t>Common goal: </a:t>
            </a:r>
            <a:r>
              <a:rPr lang="en-US" sz="1988">
                <a:solidFill>
                  <a:srgbClr val="1E2443"/>
                </a:solidFill>
                <a:latin typeface="Garet"/>
                <a:ea typeface="Garet"/>
                <a:cs typeface="Garet"/>
                <a:sym typeface="Garet"/>
              </a:rPr>
              <a:t>Make the victim trust the attacker and take an action that benefits the attacker.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844025" y="569711"/>
            <a:ext cx="10234639" cy="2115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18"/>
              </a:lnSpc>
            </a:pPr>
            <a:r>
              <a:rPr lang="en-US" sz="8872" b="tru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What is Phi</a:t>
            </a:r>
            <a:r>
              <a:rPr lang="en-US" b="true" sz="8872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shing?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562124" y="3687444"/>
            <a:ext cx="4579871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2"/>
              </a:lnSpc>
            </a:pPr>
            <a:r>
              <a:rPr lang="en-US" sz="2810" b="true">
                <a:solidFill>
                  <a:srgbClr val="1E2443"/>
                </a:solidFill>
                <a:latin typeface="Poppins Bold"/>
                <a:ea typeface="Poppins Bold"/>
                <a:cs typeface="Poppins Bold"/>
                <a:sym typeface="Poppins Bold"/>
              </a:rPr>
              <a:t>Ca</a:t>
            </a:r>
            <a:r>
              <a:rPr lang="en-US" sz="2810" b="true">
                <a:solidFill>
                  <a:srgbClr val="1E2443"/>
                </a:solidFill>
                <a:latin typeface="Poppins Bold"/>
                <a:ea typeface="Poppins Bold"/>
                <a:cs typeface="Poppins Bold"/>
                <a:sym typeface="Poppins Bold"/>
              </a:rPr>
              <a:t>n happen through: 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5014064" y="4762723"/>
            <a:ext cx="956866" cy="996736"/>
          </a:xfrm>
          <a:custGeom>
            <a:avLst/>
            <a:gdLst/>
            <a:ahLst/>
            <a:cxnLst/>
            <a:rect r="r" b="b" t="t" l="l"/>
            <a:pathLst>
              <a:path h="996736" w="956866">
                <a:moveTo>
                  <a:pt x="0" y="0"/>
                </a:moveTo>
                <a:lnTo>
                  <a:pt x="956866" y="0"/>
                </a:lnTo>
                <a:lnTo>
                  <a:pt x="956866" y="996736"/>
                </a:lnTo>
                <a:lnTo>
                  <a:pt x="0" y="99673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4659982" y="5832111"/>
            <a:ext cx="1347846" cy="229134"/>
          </a:xfrm>
          <a:custGeom>
            <a:avLst/>
            <a:gdLst/>
            <a:ahLst/>
            <a:cxnLst/>
            <a:rect r="r" b="b" t="t" l="l"/>
            <a:pathLst>
              <a:path h="229134" w="1347846">
                <a:moveTo>
                  <a:pt x="0" y="0"/>
                </a:moveTo>
                <a:lnTo>
                  <a:pt x="1347846" y="0"/>
                </a:lnTo>
                <a:lnTo>
                  <a:pt x="1347846" y="229133"/>
                </a:lnTo>
                <a:lnTo>
                  <a:pt x="0" y="22913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4078664" y="5826289"/>
            <a:ext cx="2510482" cy="241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621" b="true">
                <a:solidFill>
                  <a:srgbClr val="1E2443"/>
                </a:solidFill>
                <a:latin typeface="Garet Bold"/>
                <a:ea typeface="Garet Bold"/>
                <a:cs typeface="Garet Bold"/>
                <a:sym typeface="Garet Bold"/>
              </a:rPr>
              <a:t>SMS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2870375" y="4499771"/>
            <a:ext cx="1109768" cy="871168"/>
          </a:xfrm>
          <a:custGeom>
            <a:avLst/>
            <a:gdLst/>
            <a:ahLst/>
            <a:cxnLst/>
            <a:rect r="r" b="b" t="t" l="l"/>
            <a:pathLst>
              <a:path h="871168" w="1109768">
                <a:moveTo>
                  <a:pt x="0" y="0"/>
                </a:moveTo>
                <a:lnTo>
                  <a:pt x="1109768" y="0"/>
                </a:lnTo>
                <a:lnTo>
                  <a:pt x="1109768" y="871168"/>
                </a:lnTo>
                <a:lnTo>
                  <a:pt x="0" y="87116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2749623" y="5434912"/>
            <a:ext cx="1405747" cy="238977"/>
          </a:xfrm>
          <a:custGeom>
            <a:avLst/>
            <a:gdLst/>
            <a:ahLst/>
            <a:cxnLst/>
            <a:rect r="r" b="b" t="t" l="l"/>
            <a:pathLst>
              <a:path h="238977" w="1405747">
                <a:moveTo>
                  <a:pt x="0" y="0"/>
                </a:moveTo>
                <a:lnTo>
                  <a:pt x="1405746" y="0"/>
                </a:lnTo>
                <a:lnTo>
                  <a:pt x="1405746" y="238977"/>
                </a:lnTo>
                <a:lnTo>
                  <a:pt x="0" y="23897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2143332" y="5422278"/>
            <a:ext cx="2618327" cy="251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8"/>
              </a:lnSpc>
            </a:pPr>
            <a:r>
              <a:rPr lang="en-US" sz="1690" b="true">
                <a:solidFill>
                  <a:srgbClr val="1E2443"/>
                </a:solidFill>
                <a:latin typeface="Garet Bold"/>
                <a:ea typeface="Garet Bold"/>
                <a:cs typeface="Garet Bold"/>
                <a:sym typeface="Garet Bold"/>
              </a:rPr>
              <a:t>Email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3589701" y="6048002"/>
            <a:ext cx="971807" cy="864909"/>
          </a:xfrm>
          <a:custGeom>
            <a:avLst/>
            <a:gdLst/>
            <a:ahLst/>
            <a:cxnLst/>
            <a:rect r="r" b="b" t="t" l="l"/>
            <a:pathLst>
              <a:path h="864909" w="971807">
                <a:moveTo>
                  <a:pt x="0" y="0"/>
                </a:moveTo>
                <a:lnTo>
                  <a:pt x="971808" y="0"/>
                </a:lnTo>
                <a:lnTo>
                  <a:pt x="971808" y="864909"/>
                </a:lnTo>
                <a:lnTo>
                  <a:pt x="0" y="86490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1851895" y="6758384"/>
            <a:ext cx="2786807" cy="309053"/>
            <a:chOff x="0" y="0"/>
            <a:chExt cx="3715743" cy="41207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683699" y="0"/>
              <a:ext cx="2423946" cy="412071"/>
            </a:xfrm>
            <a:custGeom>
              <a:avLst/>
              <a:gdLst/>
              <a:ahLst/>
              <a:cxnLst/>
              <a:rect r="r" b="b" t="t" l="l"/>
              <a:pathLst>
                <a:path h="412071" w="2423946">
                  <a:moveTo>
                    <a:pt x="0" y="0"/>
                  </a:moveTo>
                  <a:lnTo>
                    <a:pt x="2423946" y="0"/>
                  </a:lnTo>
                  <a:lnTo>
                    <a:pt x="2423946" y="412071"/>
                  </a:lnTo>
                  <a:lnTo>
                    <a:pt x="0" y="4120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 rot="0">
              <a:off x="0" y="55003"/>
              <a:ext cx="3715743" cy="3570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9"/>
                </a:lnSpc>
              </a:pPr>
              <a:r>
                <a:rPr lang="en-US" sz="1799" b="true">
                  <a:solidFill>
                    <a:srgbClr val="1E2443"/>
                  </a:solidFill>
                  <a:latin typeface="Garet Bold"/>
                  <a:ea typeface="Garet Bold"/>
                  <a:cs typeface="Garet Bold"/>
                  <a:sym typeface="Garet Bold"/>
                </a:rPr>
                <a:t>Fake Website</a:t>
              </a: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11625142" y="5245971"/>
            <a:ext cx="802452" cy="786403"/>
          </a:xfrm>
          <a:custGeom>
            <a:avLst/>
            <a:gdLst/>
            <a:ahLst/>
            <a:cxnLst/>
            <a:rect r="r" b="b" t="t" l="l"/>
            <a:pathLst>
              <a:path h="786403" w="802452">
                <a:moveTo>
                  <a:pt x="0" y="0"/>
                </a:moveTo>
                <a:lnTo>
                  <a:pt x="802452" y="0"/>
                </a:lnTo>
                <a:lnTo>
                  <a:pt x="802452" y="786404"/>
                </a:lnTo>
                <a:lnTo>
                  <a:pt x="0" y="786404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1039907" y="6180732"/>
            <a:ext cx="1763085" cy="299724"/>
          </a:xfrm>
          <a:custGeom>
            <a:avLst/>
            <a:gdLst/>
            <a:ahLst/>
            <a:cxnLst/>
            <a:rect r="r" b="b" t="t" l="l"/>
            <a:pathLst>
              <a:path h="299724" w="1763085">
                <a:moveTo>
                  <a:pt x="0" y="0"/>
                </a:moveTo>
                <a:lnTo>
                  <a:pt x="1763085" y="0"/>
                </a:lnTo>
                <a:lnTo>
                  <a:pt x="1763085" y="299724"/>
                </a:lnTo>
                <a:lnTo>
                  <a:pt x="0" y="29972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0542611" y="6220739"/>
            <a:ext cx="2702688" cy="259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4"/>
              </a:lnSpc>
            </a:pPr>
            <a:r>
              <a:rPr lang="en-US" sz="1745" b="true">
                <a:solidFill>
                  <a:srgbClr val="1E2443"/>
                </a:solidFill>
                <a:latin typeface="Garet Bold"/>
                <a:ea typeface="Garet Bold"/>
                <a:cs typeface="Garet Bold"/>
                <a:sym typeface="Garet Bold"/>
              </a:rPr>
              <a:t>phone calls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4741" y="-2290430"/>
            <a:ext cx="14653207" cy="13920547"/>
          </a:xfrm>
          <a:custGeom>
            <a:avLst/>
            <a:gdLst/>
            <a:ahLst/>
            <a:cxnLst/>
            <a:rect r="r" b="b" t="t" l="l"/>
            <a:pathLst>
              <a:path h="13920547" w="14653207">
                <a:moveTo>
                  <a:pt x="0" y="0"/>
                </a:moveTo>
                <a:lnTo>
                  <a:pt x="14653207" y="0"/>
                </a:lnTo>
                <a:lnTo>
                  <a:pt x="14653207" y="13920547"/>
                </a:lnTo>
                <a:lnTo>
                  <a:pt x="0" y="139205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631184" y="3677761"/>
            <a:ext cx="7355750" cy="3434375"/>
            <a:chOff x="0" y="0"/>
            <a:chExt cx="9807667" cy="457916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610316" y="4034971"/>
              <a:ext cx="8197351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359"/>
                </a:lnSpc>
              </a:pP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57150"/>
              <a:ext cx="9807667" cy="3943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7679"/>
                </a:lnSpc>
              </a:pPr>
              <a:r>
                <a:rPr lang="en-US" b="true" sz="6399" spc="191">
                  <a:solidFill>
                    <a:srgbClr val="E5ECF9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Commo</a:t>
              </a:r>
              <a:r>
                <a:rPr lang="en-US" b="true" sz="6399" spc="191">
                  <a:solidFill>
                    <a:srgbClr val="E5ECF9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n Types </a:t>
              </a:r>
            </a:p>
            <a:p>
              <a:pPr algn="just">
                <a:lnSpc>
                  <a:spcPts val="7679"/>
                </a:lnSpc>
              </a:pPr>
              <a:r>
                <a:rPr lang="en-US" b="true" sz="6399" spc="191">
                  <a:solidFill>
                    <a:srgbClr val="E5ECF9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of Phishing</a:t>
              </a:r>
            </a:p>
            <a:p>
              <a:pPr algn="just">
                <a:lnSpc>
                  <a:spcPts val="767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rot="0">
            <a:off x="-17780" y="0"/>
            <a:ext cx="2234176" cy="2887649"/>
          </a:xfrm>
          <a:prstGeom prst="rect">
            <a:avLst/>
          </a:prstGeom>
          <a:solidFill>
            <a:srgbClr val="313960"/>
          </a:solidFill>
        </p:spPr>
      </p:sp>
      <p:sp>
        <p:nvSpPr>
          <p:cNvPr name="AutoShape 7" id="7"/>
          <p:cNvSpPr/>
          <p:nvPr/>
        </p:nvSpPr>
        <p:spPr>
          <a:xfrm rot="0">
            <a:off x="-17780" y="2868492"/>
            <a:ext cx="2234176" cy="2181210"/>
          </a:xfrm>
          <a:prstGeom prst="rect">
            <a:avLst/>
          </a:prstGeom>
          <a:solidFill>
            <a:srgbClr val="4F5986"/>
          </a:solidFill>
        </p:spPr>
      </p:sp>
      <p:sp>
        <p:nvSpPr>
          <p:cNvPr name="AutoShape 8" id="8"/>
          <p:cNvSpPr/>
          <p:nvPr/>
        </p:nvSpPr>
        <p:spPr>
          <a:xfrm rot="0">
            <a:off x="-17780" y="7192599"/>
            <a:ext cx="2234176" cy="3094401"/>
          </a:xfrm>
          <a:prstGeom prst="rect">
            <a:avLst/>
          </a:prstGeom>
          <a:solidFill>
            <a:srgbClr val="A2ABD4"/>
          </a:solidFill>
        </p:spPr>
      </p:sp>
      <p:sp>
        <p:nvSpPr>
          <p:cNvPr name="AutoShape 9" id="9"/>
          <p:cNvSpPr/>
          <p:nvPr/>
        </p:nvSpPr>
        <p:spPr>
          <a:xfrm rot="0">
            <a:off x="-17780" y="5030546"/>
            <a:ext cx="2234176" cy="2181210"/>
          </a:xfrm>
          <a:prstGeom prst="rect">
            <a:avLst/>
          </a:prstGeom>
          <a:solidFill>
            <a:srgbClr val="717AA4"/>
          </a:solidFill>
        </p:spPr>
      </p:sp>
      <p:sp>
        <p:nvSpPr>
          <p:cNvPr name="Freeform 10" id="10"/>
          <p:cNvSpPr/>
          <p:nvPr/>
        </p:nvSpPr>
        <p:spPr>
          <a:xfrm flipH="false" flipV="false" rot="0">
            <a:off x="633553" y="3556959"/>
            <a:ext cx="814680" cy="798387"/>
          </a:xfrm>
          <a:custGeom>
            <a:avLst/>
            <a:gdLst/>
            <a:ahLst/>
            <a:cxnLst/>
            <a:rect r="r" b="b" t="t" l="l"/>
            <a:pathLst>
              <a:path h="798387" w="814680">
                <a:moveTo>
                  <a:pt x="0" y="0"/>
                </a:moveTo>
                <a:lnTo>
                  <a:pt x="814680" y="0"/>
                </a:lnTo>
                <a:lnTo>
                  <a:pt x="814680" y="798386"/>
                </a:lnTo>
                <a:lnTo>
                  <a:pt x="0" y="7983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33553" y="5667109"/>
            <a:ext cx="949625" cy="989193"/>
          </a:xfrm>
          <a:custGeom>
            <a:avLst/>
            <a:gdLst/>
            <a:ahLst/>
            <a:cxnLst/>
            <a:rect r="r" b="b" t="t" l="l"/>
            <a:pathLst>
              <a:path h="989193" w="949625">
                <a:moveTo>
                  <a:pt x="0" y="0"/>
                </a:moveTo>
                <a:lnTo>
                  <a:pt x="949625" y="0"/>
                </a:lnTo>
                <a:lnTo>
                  <a:pt x="949625" y="989193"/>
                </a:lnTo>
                <a:lnTo>
                  <a:pt x="0" y="9891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61013" y="1160997"/>
            <a:ext cx="1135373" cy="891268"/>
          </a:xfrm>
          <a:custGeom>
            <a:avLst/>
            <a:gdLst/>
            <a:ahLst/>
            <a:cxnLst/>
            <a:rect r="r" b="b" t="t" l="l"/>
            <a:pathLst>
              <a:path h="891268" w="1135373">
                <a:moveTo>
                  <a:pt x="0" y="0"/>
                </a:moveTo>
                <a:lnTo>
                  <a:pt x="1135374" y="0"/>
                </a:lnTo>
                <a:lnTo>
                  <a:pt x="1135374" y="891268"/>
                </a:lnTo>
                <a:lnTo>
                  <a:pt x="0" y="8912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63084" y="8030905"/>
            <a:ext cx="1090564" cy="1398158"/>
          </a:xfrm>
          <a:custGeom>
            <a:avLst/>
            <a:gdLst/>
            <a:ahLst/>
            <a:cxnLst/>
            <a:rect r="r" b="b" t="t" l="l"/>
            <a:pathLst>
              <a:path h="1398158" w="1090564">
                <a:moveTo>
                  <a:pt x="0" y="0"/>
                </a:moveTo>
                <a:lnTo>
                  <a:pt x="1090563" y="0"/>
                </a:lnTo>
                <a:lnTo>
                  <a:pt x="1090563" y="1398159"/>
                </a:lnTo>
                <a:lnTo>
                  <a:pt x="0" y="139815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722316" y="1028700"/>
            <a:ext cx="271647" cy="264856"/>
          </a:xfrm>
          <a:custGeom>
            <a:avLst/>
            <a:gdLst/>
            <a:ahLst/>
            <a:cxnLst/>
            <a:rect r="r" b="b" t="t" l="l"/>
            <a:pathLst>
              <a:path h="264856" w="271647">
                <a:moveTo>
                  <a:pt x="0" y="0"/>
                </a:moveTo>
                <a:lnTo>
                  <a:pt x="271647" y="0"/>
                </a:lnTo>
                <a:lnTo>
                  <a:pt x="271647" y="264856"/>
                </a:lnTo>
                <a:lnTo>
                  <a:pt x="0" y="26485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3200400" y="954995"/>
            <a:ext cx="6154434" cy="1747384"/>
            <a:chOff x="0" y="0"/>
            <a:chExt cx="8205912" cy="2329845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57150"/>
              <a:ext cx="8205912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b="true" sz="2799" spc="195">
                  <a:solidFill>
                    <a:srgbClr val="E5ECF9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E</a:t>
              </a:r>
              <a:r>
                <a:rPr lang="en-US" b="true" sz="2799" spc="195">
                  <a:solidFill>
                    <a:srgbClr val="E5ECF9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mail Phishing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687100"/>
              <a:ext cx="8205912" cy="164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E5ECF9"/>
                  </a:solidFill>
                  <a:latin typeface="Aileron"/>
                  <a:ea typeface="Aileron"/>
                  <a:cs typeface="Aileron"/>
                  <a:sym typeface="Aileron"/>
                </a:rPr>
                <a:t>Fak</a:t>
              </a:r>
              <a:r>
                <a:rPr lang="en-US" sz="2400">
                  <a:solidFill>
                    <a:srgbClr val="E5ECF9"/>
                  </a:solidFill>
                  <a:latin typeface="Aileron"/>
                  <a:ea typeface="Aileron"/>
                  <a:cs typeface="Aileron"/>
                  <a:sym typeface="Aileron"/>
                </a:rPr>
                <a:t>e emails designed to trick users into clicking links, opening attachments, or providing information.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200400" y="3301376"/>
            <a:ext cx="6154434" cy="1309551"/>
            <a:chOff x="0" y="0"/>
            <a:chExt cx="8205912" cy="1746069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-57150"/>
              <a:ext cx="8205912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b="true" sz="2799" spc="195">
                  <a:solidFill>
                    <a:srgbClr val="E5ECF9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Vi</a:t>
              </a:r>
              <a:r>
                <a:rPr lang="en-US" b="true" sz="2799" spc="195">
                  <a:solidFill>
                    <a:srgbClr val="E5ECF9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shing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662124"/>
              <a:ext cx="8205912" cy="1083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E5ECF9"/>
                  </a:solidFill>
                  <a:latin typeface="Aileron"/>
                  <a:ea typeface="Aileron"/>
                  <a:cs typeface="Aileron"/>
                  <a:sym typeface="Aileron"/>
                </a:rPr>
                <a:t>Phi</a:t>
              </a:r>
              <a:r>
                <a:rPr lang="en-US" sz="2400">
                  <a:solidFill>
                    <a:srgbClr val="E5ECF9"/>
                  </a:solidFill>
                  <a:latin typeface="Aileron"/>
                  <a:ea typeface="Aileron"/>
                  <a:cs typeface="Aileron"/>
                  <a:sym typeface="Aileron"/>
                </a:rPr>
                <a:t>shing performed through voice calls or VoIP.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200400" y="5470468"/>
            <a:ext cx="6154434" cy="1309551"/>
            <a:chOff x="0" y="0"/>
            <a:chExt cx="8205912" cy="1746069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-57150"/>
              <a:ext cx="8205912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b="true" sz="2799" spc="195">
                  <a:solidFill>
                    <a:srgbClr val="E5ECF9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Sm</a:t>
              </a:r>
              <a:r>
                <a:rPr lang="en-US" b="true" sz="2799" spc="195">
                  <a:solidFill>
                    <a:srgbClr val="E5ECF9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ishing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662124"/>
              <a:ext cx="8205912" cy="1083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E5ECF9"/>
                  </a:solidFill>
                  <a:latin typeface="Aileron"/>
                  <a:ea typeface="Aileron"/>
                  <a:cs typeface="Aileron"/>
                  <a:sym typeface="Aileron"/>
                </a:rPr>
                <a:t>Phi</a:t>
              </a:r>
              <a:r>
                <a:rPr lang="en-US" sz="2400">
                  <a:solidFill>
                    <a:srgbClr val="E5ECF9"/>
                  </a:solidFill>
                  <a:latin typeface="Aileron"/>
                  <a:ea typeface="Aileron"/>
                  <a:cs typeface="Aileron"/>
                  <a:sym typeface="Aileron"/>
                </a:rPr>
                <a:t>shing attacks delivered through SMS or text messages.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200400" y="7639560"/>
            <a:ext cx="6154434" cy="1309551"/>
            <a:chOff x="0" y="0"/>
            <a:chExt cx="8205912" cy="1746069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-57150"/>
              <a:ext cx="8205912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b="true" sz="2799" spc="195">
                  <a:solidFill>
                    <a:srgbClr val="E5ECF9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Sp</a:t>
              </a:r>
              <a:r>
                <a:rPr lang="en-US" b="true" sz="2799" spc="195">
                  <a:solidFill>
                    <a:srgbClr val="E5ECF9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ear Phishing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662124"/>
              <a:ext cx="8205912" cy="1083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E5ECF9"/>
                  </a:solidFill>
                  <a:latin typeface="Aileron"/>
                  <a:ea typeface="Aileron"/>
                  <a:cs typeface="Aileron"/>
                  <a:sym typeface="Aileron"/>
                </a:rPr>
                <a:t>A target</a:t>
              </a:r>
              <a:r>
                <a:rPr lang="en-US" sz="2400">
                  <a:solidFill>
                    <a:srgbClr val="E5ECF9"/>
                  </a:solidFill>
                  <a:latin typeface="Aileron"/>
                  <a:ea typeface="Aileron"/>
                  <a:cs typeface="Aileron"/>
                  <a:sym typeface="Aileron"/>
                </a:rPr>
                <a:t>ed phishing attack designed for a specific person or organization.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2722316" y="3412905"/>
            <a:ext cx="271647" cy="264856"/>
          </a:xfrm>
          <a:custGeom>
            <a:avLst/>
            <a:gdLst/>
            <a:ahLst/>
            <a:cxnLst/>
            <a:rect r="r" b="b" t="t" l="l"/>
            <a:pathLst>
              <a:path h="264856" w="271647">
                <a:moveTo>
                  <a:pt x="0" y="0"/>
                </a:moveTo>
                <a:lnTo>
                  <a:pt x="271647" y="0"/>
                </a:lnTo>
                <a:lnTo>
                  <a:pt x="271647" y="264856"/>
                </a:lnTo>
                <a:lnTo>
                  <a:pt x="0" y="26485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2722316" y="5534681"/>
            <a:ext cx="271647" cy="264856"/>
          </a:xfrm>
          <a:custGeom>
            <a:avLst/>
            <a:gdLst/>
            <a:ahLst/>
            <a:cxnLst/>
            <a:rect r="r" b="b" t="t" l="l"/>
            <a:pathLst>
              <a:path h="264856" w="271647">
                <a:moveTo>
                  <a:pt x="0" y="0"/>
                </a:moveTo>
                <a:lnTo>
                  <a:pt x="271647" y="0"/>
                </a:lnTo>
                <a:lnTo>
                  <a:pt x="271647" y="264856"/>
                </a:lnTo>
                <a:lnTo>
                  <a:pt x="0" y="26485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2722316" y="7766049"/>
            <a:ext cx="271647" cy="264856"/>
          </a:xfrm>
          <a:custGeom>
            <a:avLst/>
            <a:gdLst/>
            <a:ahLst/>
            <a:cxnLst/>
            <a:rect r="r" b="b" t="t" l="l"/>
            <a:pathLst>
              <a:path h="264856" w="271647">
                <a:moveTo>
                  <a:pt x="0" y="0"/>
                </a:moveTo>
                <a:lnTo>
                  <a:pt x="271647" y="0"/>
                </a:lnTo>
                <a:lnTo>
                  <a:pt x="271647" y="264856"/>
                </a:lnTo>
                <a:lnTo>
                  <a:pt x="0" y="26485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4941274" y="2036882"/>
            <a:ext cx="1700989" cy="417515"/>
          </a:xfrm>
          <a:custGeom>
            <a:avLst/>
            <a:gdLst/>
            <a:ahLst/>
            <a:cxnLst/>
            <a:rect r="r" b="b" t="t" l="l"/>
            <a:pathLst>
              <a:path h="417515" w="1700989">
                <a:moveTo>
                  <a:pt x="0" y="0"/>
                </a:moveTo>
                <a:lnTo>
                  <a:pt x="1700989" y="0"/>
                </a:lnTo>
                <a:lnTo>
                  <a:pt x="1700989" y="417515"/>
                </a:lnTo>
                <a:lnTo>
                  <a:pt x="0" y="41751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7102316" y="8894882"/>
            <a:ext cx="1700989" cy="417515"/>
          </a:xfrm>
          <a:custGeom>
            <a:avLst/>
            <a:gdLst/>
            <a:ahLst/>
            <a:cxnLst/>
            <a:rect r="r" b="b" t="t" l="l"/>
            <a:pathLst>
              <a:path h="417515" w="1700989">
                <a:moveTo>
                  <a:pt x="0" y="0"/>
                </a:moveTo>
                <a:lnTo>
                  <a:pt x="1700989" y="0"/>
                </a:lnTo>
                <a:lnTo>
                  <a:pt x="1700989" y="417515"/>
                </a:lnTo>
                <a:lnTo>
                  <a:pt x="0" y="41751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4741" y="-2290430"/>
            <a:ext cx="14653207" cy="13920547"/>
          </a:xfrm>
          <a:custGeom>
            <a:avLst/>
            <a:gdLst/>
            <a:ahLst/>
            <a:cxnLst/>
            <a:rect r="r" b="b" t="t" l="l"/>
            <a:pathLst>
              <a:path h="13920547" w="14653207">
                <a:moveTo>
                  <a:pt x="0" y="0"/>
                </a:moveTo>
                <a:lnTo>
                  <a:pt x="14653207" y="0"/>
                </a:lnTo>
                <a:lnTo>
                  <a:pt x="14653207" y="13920547"/>
                </a:lnTo>
                <a:lnTo>
                  <a:pt x="0" y="139205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04995" y="4308181"/>
            <a:ext cx="1700989" cy="417515"/>
          </a:xfrm>
          <a:custGeom>
            <a:avLst/>
            <a:gdLst/>
            <a:ahLst/>
            <a:cxnLst/>
            <a:rect r="r" b="b" t="t" l="l"/>
            <a:pathLst>
              <a:path h="417515" w="1700989">
                <a:moveTo>
                  <a:pt x="0" y="0"/>
                </a:moveTo>
                <a:lnTo>
                  <a:pt x="1700989" y="0"/>
                </a:lnTo>
                <a:lnTo>
                  <a:pt x="1700989" y="417515"/>
                </a:lnTo>
                <a:lnTo>
                  <a:pt x="0" y="4175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>
            <a:off x="5013359" y="6078163"/>
            <a:ext cx="1395945" cy="682674"/>
          </a:xfrm>
          <a:custGeom>
            <a:avLst/>
            <a:gdLst/>
            <a:ahLst/>
            <a:cxnLst/>
            <a:rect r="r" b="b" t="t" l="l"/>
            <a:pathLst>
              <a:path h="682674" w="1395945">
                <a:moveTo>
                  <a:pt x="0" y="682674"/>
                </a:moveTo>
                <a:lnTo>
                  <a:pt x="0" y="228600"/>
                </a:lnTo>
                <a:cubicBezTo>
                  <a:pt x="0" y="167971"/>
                  <a:pt x="24084" y="109826"/>
                  <a:pt x="66955" y="66955"/>
                </a:cubicBezTo>
                <a:cubicBezTo>
                  <a:pt x="109826" y="24084"/>
                  <a:pt x="167971" y="0"/>
                  <a:pt x="228600" y="0"/>
                </a:cubicBezTo>
                <a:lnTo>
                  <a:pt x="1395945" y="0"/>
                </a:lnTo>
              </a:path>
            </a:pathLst>
          </a:custGeom>
          <a:ln cap="flat" w="38100">
            <a:solidFill>
              <a:srgbClr val="BFC1C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>
            <a:off x="11626624" y="6078163"/>
            <a:ext cx="1359061" cy="682674"/>
          </a:xfrm>
          <a:custGeom>
            <a:avLst/>
            <a:gdLst/>
            <a:ahLst/>
            <a:cxnLst/>
            <a:rect r="r" b="b" t="t" l="l"/>
            <a:pathLst>
              <a:path h="682674" w="1359061">
                <a:moveTo>
                  <a:pt x="1359062" y="682674"/>
                </a:moveTo>
                <a:lnTo>
                  <a:pt x="1359062" y="228600"/>
                </a:lnTo>
                <a:cubicBezTo>
                  <a:pt x="1359062" y="167971"/>
                  <a:pt x="1334977" y="109826"/>
                  <a:pt x="1292106" y="66955"/>
                </a:cubicBezTo>
                <a:cubicBezTo>
                  <a:pt x="1249236" y="24084"/>
                  <a:pt x="1191091" y="0"/>
                  <a:pt x="1130462" y="0"/>
                </a:cubicBezTo>
                <a:lnTo>
                  <a:pt x="0" y="0"/>
                </a:lnTo>
              </a:path>
            </a:pathLst>
          </a:custGeom>
          <a:ln cap="flat" w="38100">
            <a:solidFill>
              <a:srgbClr val="BFC1C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7914591" y="5595467"/>
            <a:ext cx="2170534" cy="1627900"/>
            <a:chOff x="0" y="0"/>
            <a:chExt cx="812800" cy="609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5936" y="0"/>
              <a:ext cx="780928" cy="609600"/>
            </a:xfrm>
            <a:custGeom>
              <a:avLst/>
              <a:gdLst/>
              <a:ahLst/>
              <a:cxnLst/>
              <a:rect r="r" b="b" t="t" l="l"/>
              <a:pathLst>
                <a:path h="609600" w="780928">
                  <a:moveTo>
                    <a:pt x="244333" y="0"/>
                  </a:moveTo>
                  <a:lnTo>
                    <a:pt x="536595" y="0"/>
                  </a:lnTo>
                  <a:cubicBezTo>
                    <a:pt x="570676" y="0"/>
                    <a:pt x="600933" y="21808"/>
                    <a:pt x="611711" y="54141"/>
                  </a:cubicBezTo>
                  <a:lnTo>
                    <a:pt x="778817" y="555459"/>
                  </a:lnTo>
                  <a:cubicBezTo>
                    <a:pt x="782998" y="568003"/>
                    <a:pt x="780895" y="581792"/>
                    <a:pt x="773164" y="592518"/>
                  </a:cubicBezTo>
                  <a:cubicBezTo>
                    <a:pt x="765433" y="603244"/>
                    <a:pt x="753017" y="609600"/>
                    <a:pt x="739795" y="609600"/>
                  </a:cubicBezTo>
                  <a:lnTo>
                    <a:pt x="41133" y="609600"/>
                  </a:lnTo>
                  <a:cubicBezTo>
                    <a:pt x="27911" y="609600"/>
                    <a:pt x="15495" y="603244"/>
                    <a:pt x="7764" y="592518"/>
                  </a:cubicBezTo>
                  <a:cubicBezTo>
                    <a:pt x="33" y="581792"/>
                    <a:pt x="-2070" y="568003"/>
                    <a:pt x="2111" y="555459"/>
                  </a:cubicBezTo>
                  <a:lnTo>
                    <a:pt x="169217" y="54141"/>
                  </a:lnTo>
                  <a:cubicBezTo>
                    <a:pt x="179995" y="21808"/>
                    <a:pt x="210252" y="0"/>
                    <a:pt x="244333" y="0"/>
                  </a:cubicBezTo>
                  <a:close/>
                </a:path>
              </a:pathLst>
            </a:custGeom>
            <a:solidFill>
              <a:srgbClr val="A2ABD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27000" y="-19050"/>
              <a:ext cx="558800" cy="628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5611119" y="4641337"/>
            <a:ext cx="2170534" cy="1627900"/>
            <a:chOff x="0" y="0"/>
            <a:chExt cx="812800" cy="609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5936" y="0"/>
              <a:ext cx="780928" cy="609600"/>
            </a:xfrm>
            <a:custGeom>
              <a:avLst/>
              <a:gdLst/>
              <a:ahLst/>
              <a:cxnLst/>
              <a:rect r="r" b="b" t="t" l="l"/>
              <a:pathLst>
                <a:path h="609600" w="780928">
                  <a:moveTo>
                    <a:pt x="244333" y="0"/>
                  </a:moveTo>
                  <a:lnTo>
                    <a:pt x="536595" y="0"/>
                  </a:lnTo>
                  <a:cubicBezTo>
                    <a:pt x="570676" y="0"/>
                    <a:pt x="600933" y="21808"/>
                    <a:pt x="611711" y="54141"/>
                  </a:cubicBezTo>
                  <a:lnTo>
                    <a:pt x="778817" y="555459"/>
                  </a:lnTo>
                  <a:cubicBezTo>
                    <a:pt x="782998" y="568003"/>
                    <a:pt x="780895" y="581792"/>
                    <a:pt x="773164" y="592518"/>
                  </a:cubicBezTo>
                  <a:cubicBezTo>
                    <a:pt x="765433" y="603244"/>
                    <a:pt x="753017" y="609600"/>
                    <a:pt x="739795" y="609600"/>
                  </a:cubicBezTo>
                  <a:lnTo>
                    <a:pt x="41133" y="609600"/>
                  </a:lnTo>
                  <a:cubicBezTo>
                    <a:pt x="27911" y="609600"/>
                    <a:pt x="15495" y="603244"/>
                    <a:pt x="7764" y="592518"/>
                  </a:cubicBezTo>
                  <a:cubicBezTo>
                    <a:pt x="33" y="581792"/>
                    <a:pt x="-2070" y="568003"/>
                    <a:pt x="2111" y="555459"/>
                  </a:cubicBezTo>
                  <a:lnTo>
                    <a:pt x="169217" y="54141"/>
                  </a:lnTo>
                  <a:cubicBezTo>
                    <a:pt x="179995" y="21808"/>
                    <a:pt x="210252" y="0"/>
                    <a:pt x="244333" y="0"/>
                  </a:cubicBezTo>
                  <a:close/>
                </a:path>
              </a:pathLst>
            </a:custGeom>
            <a:solidFill>
              <a:srgbClr val="4F598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27000" y="-19050"/>
              <a:ext cx="558800" cy="628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5400000">
            <a:off x="4656989" y="2337865"/>
            <a:ext cx="2170534" cy="1627900"/>
            <a:chOff x="0" y="0"/>
            <a:chExt cx="812800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5936" y="0"/>
              <a:ext cx="780928" cy="609600"/>
            </a:xfrm>
            <a:custGeom>
              <a:avLst/>
              <a:gdLst/>
              <a:ahLst/>
              <a:cxnLst/>
              <a:rect r="r" b="b" t="t" l="l"/>
              <a:pathLst>
                <a:path h="609600" w="780928">
                  <a:moveTo>
                    <a:pt x="244333" y="0"/>
                  </a:moveTo>
                  <a:lnTo>
                    <a:pt x="536595" y="0"/>
                  </a:lnTo>
                  <a:cubicBezTo>
                    <a:pt x="570676" y="0"/>
                    <a:pt x="600933" y="21808"/>
                    <a:pt x="611711" y="54141"/>
                  </a:cubicBezTo>
                  <a:lnTo>
                    <a:pt x="778817" y="555459"/>
                  </a:lnTo>
                  <a:cubicBezTo>
                    <a:pt x="782998" y="568003"/>
                    <a:pt x="780895" y="581792"/>
                    <a:pt x="773164" y="592518"/>
                  </a:cubicBezTo>
                  <a:cubicBezTo>
                    <a:pt x="765433" y="603244"/>
                    <a:pt x="753017" y="609600"/>
                    <a:pt x="739795" y="609600"/>
                  </a:cubicBezTo>
                  <a:lnTo>
                    <a:pt x="41133" y="609600"/>
                  </a:lnTo>
                  <a:cubicBezTo>
                    <a:pt x="27911" y="609600"/>
                    <a:pt x="15495" y="603244"/>
                    <a:pt x="7764" y="592518"/>
                  </a:cubicBezTo>
                  <a:cubicBezTo>
                    <a:pt x="33" y="581792"/>
                    <a:pt x="-2070" y="568003"/>
                    <a:pt x="2111" y="555459"/>
                  </a:cubicBezTo>
                  <a:lnTo>
                    <a:pt x="169217" y="54141"/>
                  </a:lnTo>
                  <a:cubicBezTo>
                    <a:pt x="179995" y="21808"/>
                    <a:pt x="210252" y="0"/>
                    <a:pt x="244333" y="0"/>
                  </a:cubicBezTo>
                  <a:close/>
                </a:path>
              </a:pathLst>
            </a:custGeom>
            <a:solidFill>
              <a:srgbClr val="A2ABD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27000" y="-19050"/>
              <a:ext cx="558800" cy="628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>
            <a:off x="12930760" y="3228992"/>
            <a:ext cx="875868" cy="682675"/>
          </a:xfrm>
          <a:custGeom>
            <a:avLst/>
            <a:gdLst/>
            <a:ahLst/>
            <a:cxnLst/>
            <a:rect r="r" b="b" t="t" l="l"/>
            <a:pathLst>
              <a:path h="682675" w="875868">
                <a:moveTo>
                  <a:pt x="875869" y="682675"/>
                </a:moveTo>
                <a:lnTo>
                  <a:pt x="875869" y="228600"/>
                </a:lnTo>
                <a:cubicBezTo>
                  <a:pt x="875869" y="167972"/>
                  <a:pt x="851785" y="109826"/>
                  <a:pt x="808913" y="66955"/>
                </a:cubicBezTo>
                <a:cubicBezTo>
                  <a:pt x="766043" y="24085"/>
                  <a:pt x="707897" y="0"/>
                  <a:pt x="647269" y="0"/>
                </a:cubicBezTo>
                <a:lnTo>
                  <a:pt x="0" y="0"/>
                </a:lnTo>
              </a:path>
            </a:pathLst>
          </a:custGeom>
          <a:ln cap="flat" w="38100">
            <a:solidFill>
              <a:srgbClr val="BFC1C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-5400000">
            <a:off x="11172193" y="2337865"/>
            <a:ext cx="2170534" cy="1627900"/>
            <a:chOff x="0" y="0"/>
            <a:chExt cx="812800" cy="609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5936" y="0"/>
              <a:ext cx="780928" cy="609600"/>
            </a:xfrm>
            <a:custGeom>
              <a:avLst/>
              <a:gdLst/>
              <a:ahLst/>
              <a:cxnLst/>
              <a:rect r="r" b="b" t="t" l="l"/>
              <a:pathLst>
                <a:path h="609600" w="780928">
                  <a:moveTo>
                    <a:pt x="244333" y="0"/>
                  </a:moveTo>
                  <a:lnTo>
                    <a:pt x="536595" y="0"/>
                  </a:lnTo>
                  <a:cubicBezTo>
                    <a:pt x="570676" y="0"/>
                    <a:pt x="600933" y="21808"/>
                    <a:pt x="611711" y="54141"/>
                  </a:cubicBezTo>
                  <a:lnTo>
                    <a:pt x="778817" y="555459"/>
                  </a:lnTo>
                  <a:cubicBezTo>
                    <a:pt x="782998" y="568003"/>
                    <a:pt x="780895" y="581792"/>
                    <a:pt x="773164" y="592518"/>
                  </a:cubicBezTo>
                  <a:cubicBezTo>
                    <a:pt x="765433" y="603244"/>
                    <a:pt x="753017" y="609600"/>
                    <a:pt x="739795" y="609600"/>
                  </a:cubicBezTo>
                  <a:lnTo>
                    <a:pt x="41133" y="609600"/>
                  </a:lnTo>
                  <a:cubicBezTo>
                    <a:pt x="27911" y="609600"/>
                    <a:pt x="15495" y="603244"/>
                    <a:pt x="7764" y="592518"/>
                  </a:cubicBezTo>
                  <a:cubicBezTo>
                    <a:pt x="33" y="581792"/>
                    <a:pt x="-2070" y="568003"/>
                    <a:pt x="2111" y="555459"/>
                  </a:cubicBezTo>
                  <a:lnTo>
                    <a:pt x="169217" y="54141"/>
                  </a:lnTo>
                  <a:cubicBezTo>
                    <a:pt x="179995" y="21808"/>
                    <a:pt x="210252" y="0"/>
                    <a:pt x="244333" y="0"/>
                  </a:cubicBezTo>
                  <a:close/>
                </a:path>
              </a:pathLst>
            </a:custGeom>
            <a:solidFill>
              <a:srgbClr val="A2ABD4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27000" y="-19050"/>
              <a:ext cx="558800" cy="628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-2700000">
            <a:off x="10218064" y="4641337"/>
            <a:ext cx="2170534" cy="1627900"/>
            <a:chOff x="0" y="0"/>
            <a:chExt cx="812800" cy="609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5936" y="0"/>
              <a:ext cx="780928" cy="609600"/>
            </a:xfrm>
            <a:custGeom>
              <a:avLst/>
              <a:gdLst/>
              <a:ahLst/>
              <a:cxnLst/>
              <a:rect r="r" b="b" t="t" l="l"/>
              <a:pathLst>
                <a:path h="609600" w="780928">
                  <a:moveTo>
                    <a:pt x="244333" y="0"/>
                  </a:moveTo>
                  <a:lnTo>
                    <a:pt x="536595" y="0"/>
                  </a:lnTo>
                  <a:cubicBezTo>
                    <a:pt x="570676" y="0"/>
                    <a:pt x="600933" y="21808"/>
                    <a:pt x="611711" y="54141"/>
                  </a:cubicBezTo>
                  <a:lnTo>
                    <a:pt x="778817" y="555459"/>
                  </a:lnTo>
                  <a:cubicBezTo>
                    <a:pt x="782998" y="568003"/>
                    <a:pt x="780895" y="581792"/>
                    <a:pt x="773164" y="592518"/>
                  </a:cubicBezTo>
                  <a:cubicBezTo>
                    <a:pt x="765433" y="603244"/>
                    <a:pt x="753017" y="609600"/>
                    <a:pt x="739795" y="609600"/>
                  </a:cubicBezTo>
                  <a:lnTo>
                    <a:pt x="41133" y="609600"/>
                  </a:lnTo>
                  <a:cubicBezTo>
                    <a:pt x="27911" y="609600"/>
                    <a:pt x="15495" y="603244"/>
                    <a:pt x="7764" y="592518"/>
                  </a:cubicBezTo>
                  <a:cubicBezTo>
                    <a:pt x="33" y="581792"/>
                    <a:pt x="-2070" y="568003"/>
                    <a:pt x="2111" y="555459"/>
                  </a:cubicBezTo>
                  <a:lnTo>
                    <a:pt x="169217" y="54141"/>
                  </a:lnTo>
                  <a:cubicBezTo>
                    <a:pt x="179995" y="21808"/>
                    <a:pt x="210252" y="0"/>
                    <a:pt x="244333" y="0"/>
                  </a:cubicBezTo>
                  <a:close/>
                </a:path>
              </a:pathLst>
            </a:custGeom>
            <a:solidFill>
              <a:srgbClr val="4F5986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27000" y="-19050"/>
              <a:ext cx="558800" cy="628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098149" y="1250106"/>
            <a:ext cx="3803418" cy="3803418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97704" y="23029"/>
                  </a:moveTo>
                  <a:lnTo>
                    <a:pt x="789771" y="215096"/>
                  </a:lnTo>
                  <a:cubicBezTo>
                    <a:pt x="804516" y="229841"/>
                    <a:pt x="812800" y="249840"/>
                    <a:pt x="812800" y="270693"/>
                  </a:cubicBezTo>
                  <a:lnTo>
                    <a:pt x="812800" y="542107"/>
                  </a:lnTo>
                  <a:cubicBezTo>
                    <a:pt x="812800" y="562960"/>
                    <a:pt x="804516" y="582959"/>
                    <a:pt x="789771" y="597704"/>
                  </a:cubicBezTo>
                  <a:lnTo>
                    <a:pt x="597704" y="789771"/>
                  </a:lnTo>
                  <a:cubicBezTo>
                    <a:pt x="582959" y="804516"/>
                    <a:pt x="562960" y="812800"/>
                    <a:pt x="542107" y="812800"/>
                  </a:cubicBezTo>
                  <a:lnTo>
                    <a:pt x="270693" y="812800"/>
                  </a:lnTo>
                  <a:cubicBezTo>
                    <a:pt x="249840" y="812800"/>
                    <a:pt x="229841" y="804516"/>
                    <a:pt x="215096" y="789771"/>
                  </a:cubicBezTo>
                  <a:lnTo>
                    <a:pt x="23029" y="597704"/>
                  </a:lnTo>
                  <a:cubicBezTo>
                    <a:pt x="8284" y="582959"/>
                    <a:pt x="0" y="562960"/>
                    <a:pt x="0" y="542107"/>
                  </a:cubicBezTo>
                  <a:lnTo>
                    <a:pt x="0" y="270693"/>
                  </a:lnTo>
                  <a:cubicBezTo>
                    <a:pt x="0" y="249840"/>
                    <a:pt x="8284" y="229841"/>
                    <a:pt x="23029" y="215096"/>
                  </a:cubicBezTo>
                  <a:lnTo>
                    <a:pt x="215096" y="23029"/>
                  </a:lnTo>
                  <a:cubicBezTo>
                    <a:pt x="229841" y="8284"/>
                    <a:pt x="249840" y="0"/>
                    <a:pt x="270693" y="0"/>
                  </a:cubicBezTo>
                  <a:lnTo>
                    <a:pt x="542107" y="0"/>
                  </a:lnTo>
                  <a:cubicBezTo>
                    <a:pt x="562960" y="0"/>
                    <a:pt x="582959" y="8284"/>
                    <a:pt x="597704" y="23029"/>
                  </a:cubicBezTo>
                  <a:close/>
                </a:path>
              </a:pathLst>
            </a:custGeom>
            <a:solidFill>
              <a:srgbClr val="717AA4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63500" y="44450"/>
              <a:ext cx="685800" cy="704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>
            <a:off x="4193601" y="3228992"/>
            <a:ext cx="734705" cy="682675"/>
          </a:xfrm>
          <a:custGeom>
            <a:avLst/>
            <a:gdLst/>
            <a:ahLst/>
            <a:cxnLst/>
            <a:rect r="r" b="b" t="t" l="l"/>
            <a:pathLst>
              <a:path h="682675" w="734705">
                <a:moveTo>
                  <a:pt x="0" y="682675"/>
                </a:moveTo>
                <a:lnTo>
                  <a:pt x="0" y="228600"/>
                </a:lnTo>
                <a:cubicBezTo>
                  <a:pt x="0" y="167972"/>
                  <a:pt x="24085" y="109826"/>
                  <a:pt x="66955" y="66955"/>
                </a:cubicBezTo>
                <a:cubicBezTo>
                  <a:pt x="109826" y="24085"/>
                  <a:pt x="167972" y="0"/>
                  <a:pt x="228600" y="0"/>
                </a:cubicBezTo>
                <a:lnTo>
                  <a:pt x="734705" y="0"/>
                </a:lnTo>
              </a:path>
            </a:pathLst>
          </a:custGeom>
          <a:ln cap="flat" w="38100">
            <a:solidFill>
              <a:srgbClr val="BFC1C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flipV="true">
            <a:off x="9018908" y="7223367"/>
            <a:ext cx="0" cy="645487"/>
          </a:xfrm>
          <a:prstGeom prst="line">
            <a:avLst/>
          </a:prstGeom>
          <a:ln cap="flat" w="38100">
            <a:solidFill>
              <a:srgbClr val="BFC1C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7" id="27"/>
          <p:cNvGrpSpPr/>
          <p:nvPr/>
        </p:nvGrpSpPr>
        <p:grpSpPr>
          <a:xfrm rot="0">
            <a:off x="4003815" y="3721167"/>
            <a:ext cx="379572" cy="381000"/>
            <a:chOff x="0" y="0"/>
            <a:chExt cx="812800" cy="81585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5857"/>
            </a:xfrm>
            <a:custGeom>
              <a:avLst/>
              <a:gdLst/>
              <a:ahLst/>
              <a:cxnLst/>
              <a:rect r="r" b="b" t="t" l="l"/>
              <a:pathLst>
                <a:path h="815857" w="812800">
                  <a:moveTo>
                    <a:pt x="406400" y="0"/>
                  </a:moveTo>
                  <a:cubicBezTo>
                    <a:pt x="181951" y="0"/>
                    <a:pt x="0" y="182636"/>
                    <a:pt x="0" y="407929"/>
                  </a:cubicBezTo>
                  <a:cubicBezTo>
                    <a:pt x="0" y="633221"/>
                    <a:pt x="181951" y="815857"/>
                    <a:pt x="406400" y="815857"/>
                  </a:cubicBezTo>
                  <a:cubicBezTo>
                    <a:pt x="630849" y="815857"/>
                    <a:pt x="812800" y="633221"/>
                    <a:pt x="812800" y="407929"/>
                  </a:cubicBezTo>
                  <a:cubicBezTo>
                    <a:pt x="812800" y="18263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F5986"/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76200" y="57437"/>
              <a:ext cx="660400" cy="681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616842" y="3721167"/>
            <a:ext cx="379572" cy="381000"/>
            <a:chOff x="0" y="0"/>
            <a:chExt cx="812800" cy="81585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5857"/>
            </a:xfrm>
            <a:custGeom>
              <a:avLst/>
              <a:gdLst/>
              <a:ahLst/>
              <a:cxnLst/>
              <a:rect r="r" b="b" t="t" l="l"/>
              <a:pathLst>
                <a:path h="815857" w="812800">
                  <a:moveTo>
                    <a:pt x="406400" y="0"/>
                  </a:moveTo>
                  <a:cubicBezTo>
                    <a:pt x="181951" y="0"/>
                    <a:pt x="0" y="182636"/>
                    <a:pt x="0" y="407929"/>
                  </a:cubicBezTo>
                  <a:cubicBezTo>
                    <a:pt x="0" y="633221"/>
                    <a:pt x="181951" y="815857"/>
                    <a:pt x="406400" y="815857"/>
                  </a:cubicBezTo>
                  <a:cubicBezTo>
                    <a:pt x="630849" y="815857"/>
                    <a:pt x="812800" y="633221"/>
                    <a:pt x="812800" y="407929"/>
                  </a:cubicBezTo>
                  <a:cubicBezTo>
                    <a:pt x="812800" y="18263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F5986"/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76200" y="57437"/>
              <a:ext cx="660400" cy="681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823572" y="6570337"/>
            <a:ext cx="379572" cy="381000"/>
            <a:chOff x="0" y="0"/>
            <a:chExt cx="812800" cy="81585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5857"/>
            </a:xfrm>
            <a:custGeom>
              <a:avLst/>
              <a:gdLst/>
              <a:ahLst/>
              <a:cxnLst/>
              <a:rect r="r" b="b" t="t" l="l"/>
              <a:pathLst>
                <a:path h="815857" w="812800">
                  <a:moveTo>
                    <a:pt x="406400" y="0"/>
                  </a:moveTo>
                  <a:cubicBezTo>
                    <a:pt x="181951" y="0"/>
                    <a:pt x="0" y="182636"/>
                    <a:pt x="0" y="407929"/>
                  </a:cubicBezTo>
                  <a:cubicBezTo>
                    <a:pt x="0" y="633221"/>
                    <a:pt x="181951" y="815857"/>
                    <a:pt x="406400" y="815857"/>
                  </a:cubicBezTo>
                  <a:cubicBezTo>
                    <a:pt x="630849" y="815857"/>
                    <a:pt x="812800" y="633221"/>
                    <a:pt x="812800" y="407929"/>
                  </a:cubicBezTo>
                  <a:cubicBezTo>
                    <a:pt x="812800" y="18263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2ABD4"/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76200" y="57437"/>
              <a:ext cx="660400" cy="681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795899" y="6570337"/>
            <a:ext cx="379572" cy="381000"/>
            <a:chOff x="0" y="0"/>
            <a:chExt cx="812800" cy="81585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5857"/>
            </a:xfrm>
            <a:custGeom>
              <a:avLst/>
              <a:gdLst/>
              <a:ahLst/>
              <a:cxnLst/>
              <a:rect r="r" b="b" t="t" l="l"/>
              <a:pathLst>
                <a:path h="815857" w="812800">
                  <a:moveTo>
                    <a:pt x="406400" y="0"/>
                  </a:moveTo>
                  <a:cubicBezTo>
                    <a:pt x="181951" y="0"/>
                    <a:pt x="0" y="182636"/>
                    <a:pt x="0" y="407929"/>
                  </a:cubicBezTo>
                  <a:cubicBezTo>
                    <a:pt x="0" y="633221"/>
                    <a:pt x="181951" y="815857"/>
                    <a:pt x="406400" y="815857"/>
                  </a:cubicBezTo>
                  <a:cubicBezTo>
                    <a:pt x="630849" y="815857"/>
                    <a:pt x="812800" y="633221"/>
                    <a:pt x="812800" y="407929"/>
                  </a:cubicBezTo>
                  <a:cubicBezTo>
                    <a:pt x="812800" y="18263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2ABD4"/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76200" y="57437"/>
              <a:ext cx="660400" cy="681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810072" y="7687879"/>
            <a:ext cx="379572" cy="381000"/>
            <a:chOff x="0" y="0"/>
            <a:chExt cx="812800" cy="81585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5857"/>
            </a:xfrm>
            <a:custGeom>
              <a:avLst/>
              <a:gdLst/>
              <a:ahLst/>
              <a:cxnLst/>
              <a:rect r="r" b="b" t="t" l="l"/>
              <a:pathLst>
                <a:path h="815857" w="812800">
                  <a:moveTo>
                    <a:pt x="406400" y="0"/>
                  </a:moveTo>
                  <a:cubicBezTo>
                    <a:pt x="181951" y="0"/>
                    <a:pt x="0" y="182636"/>
                    <a:pt x="0" y="407929"/>
                  </a:cubicBezTo>
                  <a:cubicBezTo>
                    <a:pt x="0" y="633221"/>
                    <a:pt x="181951" y="815857"/>
                    <a:pt x="406400" y="815857"/>
                  </a:cubicBezTo>
                  <a:cubicBezTo>
                    <a:pt x="630849" y="815857"/>
                    <a:pt x="812800" y="633221"/>
                    <a:pt x="812800" y="407929"/>
                  </a:cubicBezTo>
                  <a:cubicBezTo>
                    <a:pt x="812800" y="18263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F5986"/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76200" y="57437"/>
              <a:ext cx="660400" cy="681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42" id="42"/>
          <p:cNvSpPr/>
          <p:nvPr/>
        </p:nvSpPr>
        <p:spPr>
          <a:xfrm flipH="false" flipV="false" rot="2700000">
            <a:off x="5131509" y="2656564"/>
            <a:ext cx="1144857" cy="1144857"/>
          </a:xfrm>
          <a:custGeom>
            <a:avLst/>
            <a:gdLst/>
            <a:ahLst/>
            <a:cxnLst/>
            <a:rect r="r" b="b" t="t" l="l"/>
            <a:pathLst>
              <a:path h="1144857" w="1144857">
                <a:moveTo>
                  <a:pt x="0" y="0"/>
                </a:moveTo>
                <a:lnTo>
                  <a:pt x="1144856" y="0"/>
                </a:lnTo>
                <a:lnTo>
                  <a:pt x="1144856" y="1144856"/>
                </a:lnTo>
                <a:lnTo>
                  <a:pt x="0" y="11448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2700000">
            <a:off x="11680618" y="2656564"/>
            <a:ext cx="1144857" cy="1144857"/>
          </a:xfrm>
          <a:custGeom>
            <a:avLst/>
            <a:gdLst/>
            <a:ahLst/>
            <a:cxnLst/>
            <a:rect r="r" b="b" t="t" l="l"/>
            <a:pathLst>
              <a:path h="1144857" w="1144857">
                <a:moveTo>
                  <a:pt x="0" y="0"/>
                </a:moveTo>
                <a:lnTo>
                  <a:pt x="1144856" y="0"/>
                </a:lnTo>
                <a:lnTo>
                  <a:pt x="1144856" y="1144856"/>
                </a:lnTo>
                <a:lnTo>
                  <a:pt x="0" y="11448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2700000">
            <a:off x="6131640" y="4960380"/>
            <a:ext cx="1144857" cy="1144857"/>
          </a:xfrm>
          <a:custGeom>
            <a:avLst/>
            <a:gdLst/>
            <a:ahLst/>
            <a:cxnLst/>
            <a:rect r="r" b="b" t="t" l="l"/>
            <a:pathLst>
              <a:path h="1144857" w="1144857">
                <a:moveTo>
                  <a:pt x="0" y="0"/>
                </a:moveTo>
                <a:lnTo>
                  <a:pt x="1144856" y="0"/>
                </a:lnTo>
                <a:lnTo>
                  <a:pt x="1144856" y="1144857"/>
                </a:lnTo>
                <a:lnTo>
                  <a:pt x="0" y="11448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2700000">
            <a:off x="10762662" y="4960380"/>
            <a:ext cx="1144857" cy="1144857"/>
          </a:xfrm>
          <a:custGeom>
            <a:avLst/>
            <a:gdLst/>
            <a:ahLst/>
            <a:cxnLst/>
            <a:rect r="r" b="b" t="t" l="l"/>
            <a:pathLst>
              <a:path h="1144857" w="1144857">
                <a:moveTo>
                  <a:pt x="0" y="0"/>
                </a:moveTo>
                <a:lnTo>
                  <a:pt x="1144857" y="0"/>
                </a:lnTo>
                <a:lnTo>
                  <a:pt x="1144857" y="1144857"/>
                </a:lnTo>
                <a:lnTo>
                  <a:pt x="0" y="11448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2700000">
            <a:off x="8427430" y="5832574"/>
            <a:ext cx="1144857" cy="1144857"/>
          </a:xfrm>
          <a:custGeom>
            <a:avLst/>
            <a:gdLst/>
            <a:ahLst/>
            <a:cxnLst/>
            <a:rect r="r" b="b" t="t" l="l"/>
            <a:pathLst>
              <a:path h="1144857" w="1144857">
                <a:moveTo>
                  <a:pt x="0" y="0"/>
                </a:moveTo>
                <a:lnTo>
                  <a:pt x="1144856" y="0"/>
                </a:lnTo>
                <a:lnTo>
                  <a:pt x="1144856" y="1144857"/>
                </a:lnTo>
                <a:lnTo>
                  <a:pt x="0" y="11448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5419451" y="2857566"/>
            <a:ext cx="568972" cy="568972"/>
          </a:xfrm>
          <a:custGeom>
            <a:avLst/>
            <a:gdLst/>
            <a:ahLst/>
            <a:cxnLst/>
            <a:rect r="r" b="b" t="t" l="l"/>
            <a:pathLst>
              <a:path h="568972" w="568972">
                <a:moveTo>
                  <a:pt x="0" y="0"/>
                </a:moveTo>
                <a:lnTo>
                  <a:pt x="568972" y="0"/>
                </a:lnTo>
                <a:lnTo>
                  <a:pt x="568972" y="568972"/>
                </a:lnTo>
                <a:lnTo>
                  <a:pt x="0" y="5689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6444867" y="5172007"/>
            <a:ext cx="518403" cy="566560"/>
          </a:xfrm>
          <a:custGeom>
            <a:avLst/>
            <a:gdLst/>
            <a:ahLst/>
            <a:cxnLst/>
            <a:rect r="r" b="b" t="t" l="l"/>
            <a:pathLst>
              <a:path h="566560" w="518403">
                <a:moveTo>
                  <a:pt x="0" y="0"/>
                </a:moveTo>
                <a:lnTo>
                  <a:pt x="518403" y="0"/>
                </a:lnTo>
                <a:lnTo>
                  <a:pt x="518403" y="566561"/>
                </a:lnTo>
                <a:lnTo>
                  <a:pt x="0" y="5665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8734660" y="6072416"/>
            <a:ext cx="539857" cy="539857"/>
          </a:xfrm>
          <a:custGeom>
            <a:avLst/>
            <a:gdLst/>
            <a:ahLst/>
            <a:cxnLst/>
            <a:rect r="r" b="b" t="t" l="l"/>
            <a:pathLst>
              <a:path h="539857" w="539857">
                <a:moveTo>
                  <a:pt x="0" y="0"/>
                </a:moveTo>
                <a:lnTo>
                  <a:pt x="539856" y="0"/>
                </a:lnTo>
                <a:lnTo>
                  <a:pt x="539856" y="539856"/>
                </a:lnTo>
                <a:lnTo>
                  <a:pt x="0" y="53985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11101734" y="5272103"/>
            <a:ext cx="466712" cy="366369"/>
          </a:xfrm>
          <a:custGeom>
            <a:avLst/>
            <a:gdLst/>
            <a:ahLst/>
            <a:cxnLst/>
            <a:rect r="r" b="b" t="t" l="l"/>
            <a:pathLst>
              <a:path h="366369" w="466712">
                <a:moveTo>
                  <a:pt x="0" y="0"/>
                </a:moveTo>
                <a:lnTo>
                  <a:pt x="466713" y="0"/>
                </a:lnTo>
                <a:lnTo>
                  <a:pt x="466713" y="366369"/>
                </a:lnTo>
                <a:lnTo>
                  <a:pt x="0" y="36636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1948548" y="2986146"/>
            <a:ext cx="591130" cy="440392"/>
          </a:xfrm>
          <a:custGeom>
            <a:avLst/>
            <a:gdLst/>
            <a:ahLst/>
            <a:cxnLst/>
            <a:rect r="r" b="b" t="t" l="l"/>
            <a:pathLst>
              <a:path h="440392" w="591130">
                <a:moveTo>
                  <a:pt x="0" y="0"/>
                </a:moveTo>
                <a:lnTo>
                  <a:pt x="591130" y="0"/>
                </a:lnTo>
                <a:lnTo>
                  <a:pt x="591130" y="440392"/>
                </a:lnTo>
                <a:lnTo>
                  <a:pt x="0" y="44039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6883524" y="2057717"/>
            <a:ext cx="4270769" cy="2532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13"/>
              </a:lnSpc>
            </a:pPr>
            <a:r>
              <a:rPr lang="en-US" sz="4272" b="tru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How to Recognize a Phi</a:t>
            </a:r>
            <a:r>
              <a:rPr lang="en-US" b="true" sz="4272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shing </a:t>
            </a:r>
          </a:p>
          <a:p>
            <a:pPr algn="ctr">
              <a:lnSpc>
                <a:spcPts val="4913"/>
              </a:lnSpc>
            </a:pPr>
            <a:r>
              <a:rPr lang="en-US" b="true" sz="4272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Email</a:t>
            </a:r>
          </a:p>
        </p:txBody>
      </p:sp>
      <p:sp>
        <p:nvSpPr>
          <p:cNvPr name="Freeform 53" id="53"/>
          <p:cNvSpPr/>
          <p:nvPr/>
        </p:nvSpPr>
        <p:spPr>
          <a:xfrm flipH="false" flipV="false" rot="0">
            <a:off x="6629466" y="8519289"/>
            <a:ext cx="4778884" cy="812410"/>
          </a:xfrm>
          <a:custGeom>
            <a:avLst/>
            <a:gdLst/>
            <a:ahLst/>
            <a:cxnLst/>
            <a:rect r="r" b="b" t="t" l="l"/>
            <a:pathLst>
              <a:path h="812410" w="4778884">
                <a:moveTo>
                  <a:pt x="0" y="0"/>
                </a:moveTo>
                <a:lnTo>
                  <a:pt x="4778884" y="0"/>
                </a:lnTo>
                <a:lnTo>
                  <a:pt x="4778884" y="812410"/>
                </a:lnTo>
                <a:lnTo>
                  <a:pt x="0" y="81241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10904280" y="7370769"/>
            <a:ext cx="4778884" cy="812410"/>
          </a:xfrm>
          <a:custGeom>
            <a:avLst/>
            <a:gdLst/>
            <a:ahLst/>
            <a:cxnLst/>
            <a:rect r="r" b="b" t="t" l="l"/>
            <a:pathLst>
              <a:path h="812410" w="4778884">
                <a:moveTo>
                  <a:pt x="0" y="0"/>
                </a:moveTo>
                <a:lnTo>
                  <a:pt x="4778885" y="0"/>
                </a:lnTo>
                <a:lnTo>
                  <a:pt x="4778885" y="812410"/>
                </a:lnTo>
                <a:lnTo>
                  <a:pt x="0" y="81241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785705" y="4481769"/>
            <a:ext cx="4633746" cy="787737"/>
          </a:xfrm>
          <a:custGeom>
            <a:avLst/>
            <a:gdLst/>
            <a:ahLst/>
            <a:cxnLst/>
            <a:rect r="r" b="b" t="t" l="l"/>
            <a:pathLst>
              <a:path h="787737" w="4633746">
                <a:moveTo>
                  <a:pt x="0" y="0"/>
                </a:moveTo>
                <a:lnTo>
                  <a:pt x="4633746" y="0"/>
                </a:lnTo>
                <a:lnTo>
                  <a:pt x="4633746" y="787737"/>
                </a:lnTo>
                <a:lnTo>
                  <a:pt x="0" y="78773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6" id="56"/>
          <p:cNvSpPr txBox="true"/>
          <p:nvPr/>
        </p:nvSpPr>
        <p:spPr>
          <a:xfrm rot="0">
            <a:off x="1248208" y="4136986"/>
            <a:ext cx="397187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E5ECF9"/>
                </a:solidFill>
                <a:latin typeface="Aileron Bold"/>
                <a:ea typeface="Aileron Bold"/>
                <a:cs typeface="Aileron Bold"/>
                <a:sym typeface="Aileron Bold"/>
              </a:rPr>
              <a:t>Unexpe</a:t>
            </a:r>
            <a:r>
              <a:rPr lang="en-US" b="true" sz="1799">
                <a:solidFill>
                  <a:srgbClr val="E5ECF9"/>
                </a:solidFill>
                <a:latin typeface="Aileron Bold"/>
                <a:ea typeface="Aileron Bold"/>
                <a:cs typeface="Aileron Bold"/>
                <a:sym typeface="Aileron Bold"/>
              </a:rPr>
              <a:t>cted links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851414" y="4609573"/>
            <a:ext cx="4502022" cy="5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99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rPr>
              <a:t> The message a</a:t>
            </a:r>
            <a:r>
              <a:rPr lang="en-US" sz="1599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rPr>
              <a:t>sks you to click a link to log in, verify information, or make a payment.</a:t>
            </a:r>
          </a:p>
        </p:txBody>
      </p:sp>
      <p:sp>
        <p:nvSpPr>
          <p:cNvPr name="Freeform 58" id="58"/>
          <p:cNvSpPr/>
          <p:nvPr/>
        </p:nvSpPr>
        <p:spPr>
          <a:xfrm flipH="false" flipV="false" rot="0">
            <a:off x="2903471" y="7420645"/>
            <a:ext cx="4192101" cy="712657"/>
          </a:xfrm>
          <a:custGeom>
            <a:avLst/>
            <a:gdLst/>
            <a:ahLst/>
            <a:cxnLst/>
            <a:rect r="r" b="b" t="t" l="l"/>
            <a:pathLst>
              <a:path h="712657" w="4192101">
                <a:moveTo>
                  <a:pt x="0" y="0"/>
                </a:moveTo>
                <a:lnTo>
                  <a:pt x="4192101" y="0"/>
                </a:lnTo>
                <a:lnTo>
                  <a:pt x="4192101" y="712657"/>
                </a:lnTo>
                <a:lnTo>
                  <a:pt x="0" y="71265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9" id="59"/>
          <p:cNvSpPr txBox="true"/>
          <p:nvPr/>
        </p:nvSpPr>
        <p:spPr>
          <a:xfrm rot="0">
            <a:off x="3050473" y="7103019"/>
            <a:ext cx="375566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E5ECF9"/>
                </a:solidFill>
                <a:latin typeface="Aileron Bold"/>
                <a:ea typeface="Aileron Bold"/>
                <a:cs typeface="Aileron Bold"/>
                <a:sym typeface="Aileron Bold"/>
              </a:rPr>
              <a:t>U</a:t>
            </a:r>
            <a:r>
              <a:rPr lang="en-US" b="true" sz="1799">
                <a:solidFill>
                  <a:srgbClr val="E5ECF9"/>
                </a:solidFill>
                <a:latin typeface="Aileron Bold"/>
                <a:ea typeface="Aileron Bold"/>
                <a:cs typeface="Aileron Bold"/>
                <a:sym typeface="Aileron Bold"/>
              </a:rPr>
              <a:t>nexpected attachments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3050473" y="7480401"/>
            <a:ext cx="3755665" cy="5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99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rPr>
              <a:t> T</a:t>
            </a:r>
            <a:r>
              <a:rPr lang="en-US" sz="1599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rPr>
              <a:t>he email contains a file</a:t>
            </a:r>
          </a:p>
          <a:p>
            <a:pPr algn="ctr">
              <a:lnSpc>
                <a:spcPts val="2079"/>
              </a:lnSpc>
            </a:pPr>
            <a:r>
              <a:rPr lang="en-US" sz="1599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rPr>
              <a:t> you were not expecting.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5956567" y="8183179"/>
            <a:ext cx="618805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E5ECF9"/>
                </a:solidFill>
                <a:latin typeface="Aileron Bold"/>
                <a:ea typeface="Aileron Bold"/>
                <a:cs typeface="Aileron Bold"/>
                <a:sym typeface="Aileron Bold"/>
              </a:rPr>
              <a:t> Requ</a:t>
            </a:r>
            <a:r>
              <a:rPr lang="en-US" b="true" sz="1799">
                <a:solidFill>
                  <a:srgbClr val="E5ECF9"/>
                </a:solidFill>
                <a:latin typeface="Aileron Bold"/>
                <a:ea typeface="Aileron Bold"/>
                <a:cs typeface="Aileron Bold"/>
                <a:sym typeface="Aileron Bold"/>
              </a:rPr>
              <a:t>ests f</a:t>
            </a:r>
            <a:r>
              <a:rPr lang="en-US" b="true" sz="1799">
                <a:solidFill>
                  <a:srgbClr val="E5ECF9"/>
                </a:solidFill>
                <a:latin typeface="Aileron Bold"/>
                <a:ea typeface="Aileron Bold"/>
                <a:cs typeface="Aileron Bold"/>
                <a:sym typeface="Aileron Bold"/>
              </a:rPr>
              <a:t>or sensitive information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6756101" y="8659429"/>
            <a:ext cx="4588992" cy="5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99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rPr>
              <a:t> The sender asks for your password, payment information, OTP, or other sensitive data.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0632119" y="7046587"/>
            <a:ext cx="532320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E5ECF9"/>
                </a:solidFill>
                <a:latin typeface="Aileron Bold"/>
                <a:ea typeface="Aileron Bold"/>
                <a:cs typeface="Aileron Bold"/>
                <a:sym typeface="Aileron Bold"/>
              </a:rPr>
              <a:t>Suspi</a:t>
            </a:r>
            <a:r>
              <a:rPr lang="en-US" b="true" sz="1799">
                <a:solidFill>
                  <a:srgbClr val="E5ECF9"/>
                </a:solidFill>
                <a:latin typeface="Aileron Bold"/>
                <a:ea typeface="Aileron Bold"/>
                <a:cs typeface="Aileron Bold"/>
                <a:sym typeface="Aileron Bold"/>
              </a:rPr>
              <a:t>cious sender address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0632119" y="7480401"/>
            <a:ext cx="5323208" cy="5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99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rPr>
              <a:t> The sender's address</a:t>
            </a:r>
            <a:r>
              <a:rPr lang="en-US" sz="1599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rPr>
              <a:t> may contain small </a:t>
            </a:r>
          </a:p>
          <a:p>
            <a:pPr algn="ctr">
              <a:lnSpc>
                <a:spcPts val="2079"/>
              </a:lnSpc>
            </a:pPr>
            <a:r>
              <a:rPr lang="en-US" sz="1599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rPr>
              <a:t>spelling changes or an unfamiliar domain.</a:t>
            </a:r>
          </a:p>
        </p:txBody>
      </p:sp>
      <p:sp>
        <p:nvSpPr>
          <p:cNvPr name="Freeform 65" id="65"/>
          <p:cNvSpPr/>
          <p:nvPr/>
        </p:nvSpPr>
        <p:spPr>
          <a:xfrm flipH="false" flipV="false" rot="0">
            <a:off x="12930760" y="4583854"/>
            <a:ext cx="4192101" cy="712657"/>
          </a:xfrm>
          <a:custGeom>
            <a:avLst/>
            <a:gdLst/>
            <a:ahLst/>
            <a:cxnLst/>
            <a:rect r="r" b="b" t="t" l="l"/>
            <a:pathLst>
              <a:path h="712657" w="4192101">
                <a:moveTo>
                  <a:pt x="0" y="0"/>
                </a:moveTo>
                <a:lnTo>
                  <a:pt x="4192101" y="0"/>
                </a:lnTo>
                <a:lnTo>
                  <a:pt x="4192101" y="712657"/>
                </a:lnTo>
                <a:lnTo>
                  <a:pt x="0" y="71265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6" id="66"/>
          <p:cNvSpPr txBox="true"/>
          <p:nvPr/>
        </p:nvSpPr>
        <p:spPr>
          <a:xfrm rot="0">
            <a:off x="12930760" y="4237082"/>
            <a:ext cx="432854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E5ECF9"/>
                </a:solidFill>
                <a:latin typeface="Aileron Bold"/>
                <a:ea typeface="Aileron Bold"/>
                <a:cs typeface="Aileron Bold"/>
                <a:sym typeface="Aileron Bold"/>
              </a:rPr>
              <a:t>Gener</a:t>
            </a:r>
            <a:r>
              <a:rPr lang="en-US" b="true" sz="1799">
                <a:solidFill>
                  <a:srgbClr val="E5ECF9"/>
                </a:solidFill>
                <a:latin typeface="Aileron Bold"/>
                <a:ea typeface="Aileron Bold"/>
                <a:cs typeface="Aileron Bold"/>
                <a:sym typeface="Aileron Bold"/>
              </a:rPr>
              <a:t>ic gree</a:t>
            </a:r>
            <a:r>
              <a:rPr lang="en-US" b="true" sz="1799">
                <a:solidFill>
                  <a:srgbClr val="E5ECF9"/>
                </a:solidFill>
                <a:latin typeface="Aileron Bold"/>
                <a:ea typeface="Aileron Bold"/>
                <a:cs typeface="Aileron Bold"/>
                <a:sym typeface="Aileron Bold"/>
              </a:rPr>
              <a:t>tings or unusual wording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3277453" y="4674117"/>
            <a:ext cx="3395311" cy="5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99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rPr>
              <a:t> For example:</a:t>
            </a:r>
            <a:r>
              <a:rPr lang="en-US" sz="1599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rPr>
              <a:t> "</a:t>
            </a:r>
            <a:r>
              <a:rPr lang="en-US" b="true" sz="1599">
                <a:solidFill>
                  <a:srgbClr val="191919"/>
                </a:solidFill>
                <a:latin typeface="Aileron Bold"/>
                <a:ea typeface="Aileron Bold"/>
                <a:cs typeface="Aileron Bold"/>
                <a:sym typeface="Aileron Bold"/>
              </a:rPr>
              <a:t>Dear Customer</a:t>
            </a:r>
            <a:r>
              <a:rPr lang="en-US" sz="1599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rPr>
              <a:t>" instead of your name.</a:t>
            </a:r>
          </a:p>
        </p:txBody>
      </p:sp>
      <p:sp>
        <p:nvSpPr>
          <p:cNvPr name="Freeform 68" id="68"/>
          <p:cNvSpPr/>
          <p:nvPr/>
        </p:nvSpPr>
        <p:spPr>
          <a:xfrm flipH="false" flipV="false" rot="0">
            <a:off x="14941274" y="2036882"/>
            <a:ext cx="1700989" cy="417515"/>
          </a:xfrm>
          <a:custGeom>
            <a:avLst/>
            <a:gdLst/>
            <a:ahLst/>
            <a:cxnLst/>
            <a:rect r="r" b="b" t="t" l="l"/>
            <a:pathLst>
              <a:path h="417515" w="1700989">
                <a:moveTo>
                  <a:pt x="0" y="0"/>
                </a:moveTo>
                <a:lnTo>
                  <a:pt x="1700989" y="0"/>
                </a:lnTo>
                <a:lnTo>
                  <a:pt x="1700989" y="417515"/>
                </a:lnTo>
                <a:lnTo>
                  <a:pt x="0" y="4175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17102316" y="8894882"/>
            <a:ext cx="1700989" cy="417515"/>
          </a:xfrm>
          <a:custGeom>
            <a:avLst/>
            <a:gdLst/>
            <a:ahLst/>
            <a:cxnLst/>
            <a:rect r="r" b="b" t="t" l="l"/>
            <a:pathLst>
              <a:path h="417515" w="1700989">
                <a:moveTo>
                  <a:pt x="0" y="0"/>
                </a:moveTo>
                <a:lnTo>
                  <a:pt x="1700989" y="0"/>
                </a:lnTo>
                <a:lnTo>
                  <a:pt x="1700989" y="417515"/>
                </a:lnTo>
                <a:lnTo>
                  <a:pt x="0" y="4175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4741" y="-2290430"/>
            <a:ext cx="14653207" cy="13920547"/>
          </a:xfrm>
          <a:custGeom>
            <a:avLst/>
            <a:gdLst/>
            <a:ahLst/>
            <a:cxnLst/>
            <a:rect r="r" b="b" t="t" l="l"/>
            <a:pathLst>
              <a:path h="13920547" w="14653207">
                <a:moveTo>
                  <a:pt x="0" y="0"/>
                </a:moveTo>
                <a:lnTo>
                  <a:pt x="14653207" y="0"/>
                </a:lnTo>
                <a:lnTo>
                  <a:pt x="14653207" y="13920547"/>
                </a:lnTo>
                <a:lnTo>
                  <a:pt x="0" y="139205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95925" y="766511"/>
            <a:ext cx="7126883" cy="147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74"/>
              </a:lnSpc>
              <a:spcBef>
                <a:spcPct val="0"/>
              </a:spcBef>
            </a:pPr>
            <a:r>
              <a:rPr lang="en-US" b="true" sz="6178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How </a:t>
            </a:r>
            <a:r>
              <a:rPr lang="en-US" b="true" sz="6178" strike="noStrike" u="non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t</a:t>
            </a:r>
            <a:r>
              <a:rPr lang="en-US" b="true" sz="6178" strike="noStrike" u="non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o</a:t>
            </a:r>
            <a:r>
              <a:rPr lang="en-US" b="true" sz="6178" strike="noStrike" u="non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6178" strike="noStrike" u="non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Iden</a:t>
            </a:r>
            <a:r>
              <a:rPr lang="en-US" b="true" sz="6178" strike="noStrike" u="non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tif</a:t>
            </a:r>
            <a:r>
              <a:rPr lang="en-US" b="true" sz="6178" strike="noStrike" u="non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y</a:t>
            </a:r>
            <a:r>
              <a:rPr lang="en-US" b="true" sz="6178" strike="noStrike" u="non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6178" strike="noStrike" u="non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a Fak</a:t>
            </a:r>
            <a:r>
              <a:rPr lang="en-US" b="true" sz="6178" strike="noStrike" u="non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e </a:t>
            </a:r>
            <a:r>
              <a:rPr lang="en-US" b="true" sz="6178" strike="noStrike" u="non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W</a:t>
            </a:r>
            <a:r>
              <a:rPr lang="en-US" b="true" sz="6178" strike="noStrike" u="non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e</a:t>
            </a:r>
            <a:r>
              <a:rPr lang="en-US" b="true" sz="6178" strike="noStrike" u="non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bsit</a:t>
            </a:r>
            <a:r>
              <a:rPr lang="en-US" b="true" sz="6178" strike="noStrike" u="non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467541" y="2236115"/>
            <a:ext cx="697904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48"/>
              </a:lnSpc>
              <a:spcBef>
                <a:spcPct val="0"/>
              </a:spcBef>
            </a:pPr>
            <a:r>
              <a:rPr lang="en-US" sz="2040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B</a:t>
            </a:r>
            <a:r>
              <a:rPr lang="en-US" sz="2040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efore</a:t>
            </a:r>
            <a:r>
              <a:rPr lang="en-US" sz="2040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040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ent</a:t>
            </a:r>
            <a:r>
              <a:rPr lang="en-US" sz="2040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er</a:t>
            </a:r>
            <a:r>
              <a:rPr lang="en-US" sz="2040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ing sensit</a:t>
            </a:r>
            <a:r>
              <a:rPr lang="en-US" sz="2040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iv</a:t>
            </a:r>
            <a:r>
              <a:rPr lang="en-US" sz="2040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e in</a:t>
            </a:r>
            <a:r>
              <a:rPr lang="en-US" sz="2040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f</a:t>
            </a:r>
            <a:r>
              <a:rPr lang="en-US" sz="2040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or</a:t>
            </a:r>
            <a:r>
              <a:rPr lang="en-US" sz="2040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m</a:t>
            </a:r>
            <a:r>
              <a:rPr lang="en-US" sz="2040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ation</a:t>
            </a:r>
            <a:r>
              <a:rPr lang="en-US" sz="2040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,</a:t>
            </a:r>
            <a:r>
              <a:rPr lang="en-US" sz="2040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 chec</a:t>
            </a:r>
            <a:r>
              <a:rPr lang="en-US" sz="2040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k</a:t>
            </a:r>
            <a:r>
              <a:rPr lang="en-US" sz="2040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 t</a:t>
            </a:r>
            <a:r>
              <a:rPr lang="en-US" sz="2040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h</a:t>
            </a:r>
            <a:r>
              <a:rPr lang="en-US" sz="2040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e we</a:t>
            </a:r>
            <a:r>
              <a:rPr lang="en-US" sz="2040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b</a:t>
            </a:r>
            <a:r>
              <a:rPr lang="en-US" sz="2040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sit</a:t>
            </a:r>
            <a:r>
              <a:rPr lang="en-US" sz="2040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2040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 care</a:t>
            </a:r>
            <a:r>
              <a:rPr lang="en-US" sz="2040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f</a:t>
            </a:r>
            <a:r>
              <a:rPr lang="en-US" sz="2040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ully.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941274" y="2036882"/>
            <a:ext cx="1700989" cy="417515"/>
          </a:xfrm>
          <a:custGeom>
            <a:avLst/>
            <a:gdLst/>
            <a:ahLst/>
            <a:cxnLst/>
            <a:rect r="r" b="b" t="t" l="l"/>
            <a:pathLst>
              <a:path h="417515" w="1700989">
                <a:moveTo>
                  <a:pt x="0" y="0"/>
                </a:moveTo>
                <a:lnTo>
                  <a:pt x="1700989" y="0"/>
                </a:lnTo>
                <a:lnTo>
                  <a:pt x="1700989" y="417515"/>
                </a:lnTo>
                <a:lnTo>
                  <a:pt x="0" y="4175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04995" y="4308181"/>
            <a:ext cx="1700989" cy="417515"/>
          </a:xfrm>
          <a:custGeom>
            <a:avLst/>
            <a:gdLst/>
            <a:ahLst/>
            <a:cxnLst/>
            <a:rect r="r" b="b" t="t" l="l"/>
            <a:pathLst>
              <a:path h="417515" w="1700989">
                <a:moveTo>
                  <a:pt x="0" y="0"/>
                </a:moveTo>
                <a:lnTo>
                  <a:pt x="1700989" y="0"/>
                </a:lnTo>
                <a:lnTo>
                  <a:pt x="1700989" y="417515"/>
                </a:lnTo>
                <a:lnTo>
                  <a:pt x="0" y="4175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102316" y="8894882"/>
            <a:ext cx="1700989" cy="417515"/>
          </a:xfrm>
          <a:custGeom>
            <a:avLst/>
            <a:gdLst/>
            <a:ahLst/>
            <a:cxnLst/>
            <a:rect r="r" b="b" t="t" l="l"/>
            <a:pathLst>
              <a:path h="417515" w="1700989">
                <a:moveTo>
                  <a:pt x="0" y="0"/>
                </a:moveTo>
                <a:lnTo>
                  <a:pt x="1700989" y="0"/>
                </a:lnTo>
                <a:lnTo>
                  <a:pt x="1700989" y="417515"/>
                </a:lnTo>
                <a:lnTo>
                  <a:pt x="0" y="4175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13466" y="6071468"/>
            <a:ext cx="1602228" cy="1823303"/>
          </a:xfrm>
          <a:custGeom>
            <a:avLst/>
            <a:gdLst/>
            <a:ahLst/>
            <a:cxnLst/>
            <a:rect r="r" b="b" t="t" l="l"/>
            <a:pathLst>
              <a:path h="1823303" w="1602228">
                <a:moveTo>
                  <a:pt x="0" y="0"/>
                </a:moveTo>
                <a:lnTo>
                  <a:pt x="1602227" y="0"/>
                </a:lnTo>
                <a:lnTo>
                  <a:pt x="1602227" y="1823303"/>
                </a:lnTo>
                <a:lnTo>
                  <a:pt x="0" y="18233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467541" y="6101315"/>
            <a:ext cx="1602228" cy="1823303"/>
          </a:xfrm>
          <a:custGeom>
            <a:avLst/>
            <a:gdLst/>
            <a:ahLst/>
            <a:cxnLst/>
            <a:rect r="r" b="b" t="t" l="l"/>
            <a:pathLst>
              <a:path h="1823303" w="1602228">
                <a:moveTo>
                  <a:pt x="0" y="0"/>
                </a:moveTo>
                <a:lnTo>
                  <a:pt x="1602228" y="0"/>
                </a:lnTo>
                <a:lnTo>
                  <a:pt x="1602228" y="1823303"/>
                </a:lnTo>
                <a:lnTo>
                  <a:pt x="0" y="18233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197967" y="2454397"/>
            <a:ext cx="3769830" cy="3204355"/>
          </a:xfrm>
          <a:custGeom>
            <a:avLst/>
            <a:gdLst/>
            <a:ahLst/>
            <a:cxnLst/>
            <a:rect r="r" b="b" t="t" l="l"/>
            <a:pathLst>
              <a:path h="3204355" w="3769830">
                <a:moveTo>
                  <a:pt x="0" y="0"/>
                </a:moveTo>
                <a:lnTo>
                  <a:pt x="3769829" y="0"/>
                </a:lnTo>
                <a:lnTo>
                  <a:pt x="3769829" y="3204356"/>
                </a:lnTo>
                <a:lnTo>
                  <a:pt x="0" y="32043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-10800000">
            <a:off x="9828124" y="3831003"/>
            <a:ext cx="3089642" cy="5047087"/>
            <a:chOff x="0" y="0"/>
            <a:chExt cx="813733" cy="132927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3733" cy="1329274"/>
            </a:xfrm>
            <a:custGeom>
              <a:avLst/>
              <a:gdLst/>
              <a:ahLst/>
              <a:cxnLst/>
              <a:rect r="r" b="b" t="t" l="l"/>
              <a:pathLst>
                <a:path h="1329274" w="813733">
                  <a:moveTo>
                    <a:pt x="85196" y="0"/>
                  </a:moveTo>
                  <a:lnTo>
                    <a:pt x="728537" y="0"/>
                  </a:lnTo>
                  <a:cubicBezTo>
                    <a:pt x="775589" y="0"/>
                    <a:pt x="813733" y="38144"/>
                    <a:pt x="813733" y="85196"/>
                  </a:cubicBezTo>
                  <a:lnTo>
                    <a:pt x="813733" y="1244078"/>
                  </a:lnTo>
                  <a:cubicBezTo>
                    <a:pt x="813733" y="1266673"/>
                    <a:pt x="804757" y="1288343"/>
                    <a:pt x="788780" y="1304321"/>
                  </a:cubicBezTo>
                  <a:cubicBezTo>
                    <a:pt x="772802" y="1320298"/>
                    <a:pt x="751132" y="1329274"/>
                    <a:pt x="728537" y="1329274"/>
                  </a:cubicBezTo>
                  <a:lnTo>
                    <a:pt x="85196" y="1329274"/>
                  </a:lnTo>
                  <a:cubicBezTo>
                    <a:pt x="38144" y="1329274"/>
                    <a:pt x="0" y="1291130"/>
                    <a:pt x="0" y="1244078"/>
                  </a:cubicBezTo>
                  <a:lnTo>
                    <a:pt x="0" y="85196"/>
                  </a:lnTo>
                  <a:cubicBezTo>
                    <a:pt x="0" y="38144"/>
                    <a:pt x="38144" y="0"/>
                    <a:pt x="85196" y="0"/>
                  </a:cubicBezTo>
                  <a:close/>
                </a:path>
              </a:pathLst>
            </a:custGeom>
            <a:solidFill>
              <a:srgbClr val="A2ABD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13733" cy="13673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-5400000">
            <a:off x="7205233" y="5981425"/>
            <a:ext cx="6998613" cy="746243"/>
          </a:xfrm>
          <a:custGeom>
            <a:avLst/>
            <a:gdLst/>
            <a:ahLst/>
            <a:cxnLst/>
            <a:rect r="r" b="b" t="t" l="l"/>
            <a:pathLst>
              <a:path h="746243" w="6998613">
                <a:moveTo>
                  <a:pt x="0" y="0"/>
                </a:moveTo>
                <a:lnTo>
                  <a:pt x="6998613" y="0"/>
                </a:lnTo>
                <a:lnTo>
                  <a:pt x="6998613" y="746243"/>
                </a:lnTo>
                <a:lnTo>
                  <a:pt x="0" y="7462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678" t="-11032" r="-1678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-10800000">
            <a:off x="10699856" y="2855240"/>
            <a:ext cx="6559444" cy="6998613"/>
            <a:chOff x="0" y="0"/>
            <a:chExt cx="1727590" cy="18432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27590" cy="1843256"/>
            </a:xfrm>
            <a:custGeom>
              <a:avLst/>
              <a:gdLst/>
              <a:ahLst/>
              <a:cxnLst/>
              <a:rect r="r" b="b" t="t" l="l"/>
              <a:pathLst>
                <a:path h="1843256" w="1727590">
                  <a:moveTo>
                    <a:pt x="40129" y="0"/>
                  </a:moveTo>
                  <a:lnTo>
                    <a:pt x="1687461" y="0"/>
                  </a:lnTo>
                  <a:cubicBezTo>
                    <a:pt x="1709624" y="0"/>
                    <a:pt x="1727590" y="17966"/>
                    <a:pt x="1727590" y="40129"/>
                  </a:cubicBezTo>
                  <a:lnTo>
                    <a:pt x="1727590" y="1803127"/>
                  </a:lnTo>
                  <a:cubicBezTo>
                    <a:pt x="1727590" y="1825290"/>
                    <a:pt x="1709624" y="1843256"/>
                    <a:pt x="1687461" y="1843256"/>
                  </a:cubicBezTo>
                  <a:lnTo>
                    <a:pt x="40129" y="1843256"/>
                  </a:lnTo>
                  <a:cubicBezTo>
                    <a:pt x="17966" y="1843256"/>
                    <a:pt x="0" y="1825290"/>
                    <a:pt x="0" y="1803127"/>
                  </a:cubicBezTo>
                  <a:lnTo>
                    <a:pt x="0" y="40129"/>
                  </a:lnTo>
                  <a:cubicBezTo>
                    <a:pt x="0" y="17966"/>
                    <a:pt x="17966" y="0"/>
                    <a:pt x="4012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727590" cy="1881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1742764" y="3424718"/>
            <a:ext cx="4741774" cy="1102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39"/>
              </a:lnSpc>
              <a:spcBef>
                <a:spcPct val="0"/>
              </a:spcBef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Lo</a:t>
            </a:r>
            <a:r>
              <a:rPr lang="en-US" sz="15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ok for </a:t>
            </a:r>
            <a:r>
              <a:rPr lang="en-US" sz="159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misspelled doma</a:t>
            </a:r>
            <a:r>
              <a:rPr lang="en-US" sz="159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in names.</a:t>
            </a:r>
          </a:p>
          <a:p>
            <a:pPr algn="l" marL="345439" indent="-172720" lvl="1">
              <a:lnSpc>
                <a:spcPts val="2239"/>
              </a:lnSpc>
              <a:spcBef>
                <a:spcPct val="0"/>
              </a:spcBef>
              <a:buFont typeface="Arial"/>
              <a:buChar char="•"/>
            </a:pPr>
            <a:r>
              <a:rPr lang="en-US" sz="159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B</a:t>
            </a:r>
            <a:r>
              <a:rPr lang="en-US" sz="159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e careful with unusual domains or extra words.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Make sure yo</a:t>
            </a:r>
            <a:r>
              <a:rPr lang="en-US" sz="159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u a</a:t>
            </a:r>
            <a:r>
              <a:rPr lang="en-US" sz="159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re </a:t>
            </a:r>
            <a:r>
              <a:rPr lang="en-US" sz="159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visiting</a:t>
            </a:r>
            <a:r>
              <a:rPr lang="en-US" sz="159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the o</a:t>
            </a:r>
            <a:r>
              <a:rPr lang="en-US" sz="159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rganiza</a:t>
            </a:r>
            <a:r>
              <a:rPr lang="en-US" sz="159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tion's legitimate domain.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742764" y="3156113"/>
            <a:ext cx="418322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Che</a:t>
            </a:r>
            <a:r>
              <a:rPr lang="en-US" b="true" sz="18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ck the URL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1077661" y="3194213"/>
            <a:ext cx="430056" cy="430056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A2ABD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b="true" sz="1600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01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1742764" y="5111534"/>
            <a:ext cx="4183224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 phishing w</a:t>
            </a:r>
            <a:r>
              <a:rPr lang="en-US" sz="159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ebsite can look almost identica</a:t>
            </a:r>
            <a:r>
              <a:rPr lang="en-US" sz="159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l</a:t>
            </a:r>
            <a:r>
              <a:rPr lang="en-US" sz="159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to a real we</a:t>
            </a:r>
            <a:r>
              <a:rPr lang="en-US" sz="159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b</a:t>
            </a:r>
            <a:r>
              <a:rPr lang="en-US" sz="159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site.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742764" y="4769174"/>
            <a:ext cx="418322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Do not trust appea</a:t>
            </a:r>
            <a:r>
              <a:rPr lang="en-US" b="true" sz="18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rance alone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077661" y="4804303"/>
            <a:ext cx="430056" cy="430056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A2ABD4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b="true" sz="1600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02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1742764" y="6305335"/>
            <a:ext cx="5210235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Instead of click</a:t>
            </a:r>
            <a:r>
              <a:rPr lang="en-US" sz="159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in</a:t>
            </a:r>
            <a:r>
              <a:rPr lang="en-US" sz="159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g</a:t>
            </a:r>
            <a:r>
              <a:rPr lang="en-US" sz="159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a link in an email or messa</a:t>
            </a:r>
            <a:r>
              <a:rPr lang="en-US" sz="159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ge, </a:t>
            </a:r>
            <a:r>
              <a:rPr lang="en-US" sz="159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</a:t>
            </a:r>
            <a:r>
              <a:rPr lang="en-US" sz="159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yp</a:t>
            </a:r>
            <a:r>
              <a:rPr lang="en-US" sz="159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e the official website address yoursel</a:t>
            </a:r>
            <a:r>
              <a:rPr lang="en-US" sz="159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f or </a:t>
            </a:r>
            <a:r>
              <a:rPr lang="en-US" sz="159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use a</a:t>
            </a:r>
            <a:r>
              <a:rPr lang="en-US" sz="159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159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tr</a:t>
            </a:r>
            <a:r>
              <a:rPr lang="en-US" sz="159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u</a:t>
            </a:r>
            <a:r>
              <a:rPr lang="en-US" sz="159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sted b</a:t>
            </a:r>
            <a:r>
              <a:rPr lang="en-US" sz="159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ookmark</a:t>
            </a:r>
            <a:r>
              <a:rPr lang="en-US" sz="159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742764" y="5965421"/>
            <a:ext cx="505774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Avo</a:t>
            </a:r>
            <a:r>
              <a:rPr lang="en-US" b="true" sz="18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id unexpected login links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1077661" y="6000349"/>
            <a:ext cx="430056" cy="430056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A2ABD4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b="true" sz="1600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03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1742764" y="7715765"/>
            <a:ext cx="4183224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Attack</a:t>
            </a:r>
            <a:r>
              <a:rPr lang="en-US" sz="159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ers can use fake adve</a:t>
            </a:r>
            <a:r>
              <a:rPr lang="en-US" sz="159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rt</a:t>
            </a:r>
            <a:r>
              <a:rPr lang="en-US" sz="159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isements to direct users to</a:t>
            </a:r>
            <a:r>
              <a:rPr lang="en-US" sz="159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159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phishing websites.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742764" y="7407695"/>
            <a:ext cx="418322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Be </a:t>
            </a:r>
            <a:r>
              <a:rPr lang="en-US" b="true" sz="18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careful with search advertisements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1077661" y="7445795"/>
            <a:ext cx="430056" cy="430056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A2ABD4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b="true" sz="1600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04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1742764" y="8966936"/>
            <a:ext cx="3498550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Wh</a:t>
            </a:r>
            <a:r>
              <a:rPr lang="en-US" sz="159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en in doubt, </a:t>
            </a:r>
            <a:r>
              <a:rPr lang="en-US" sz="159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ver</a:t>
            </a:r>
            <a:r>
              <a:rPr lang="en-US" sz="159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ify the website through an </a:t>
            </a:r>
            <a:r>
              <a:rPr lang="en-US" sz="159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offic</a:t>
            </a:r>
            <a:r>
              <a:rPr lang="en-US" sz="159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ial c</a:t>
            </a:r>
            <a:r>
              <a:rPr lang="en-US" sz="159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ha</a:t>
            </a:r>
            <a:r>
              <a:rPr lang="en-US" sz="159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nne</a:t>
            </a:r>
            <a:r>
              <a:rPr lang="en-US" sz="159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l.</a:t>
            </a:r>
            <a:r>
              <a:rPr lang="en-US" sz="159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742764" y="8384006"/>
            <a:ext cx="5354377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Never </a:t>
            </a:r>
            <a:r>
              <a:rPr lang="en-US" b="true" sz="18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enter sensitive information if you are unsure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1077661" y="8671033"/>
            <a:ext cx="430056" cy="430056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A2ABD4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b="true" sz="1600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2804" y="-2366165"/>
            <a:ext cx="14653207" cy="13920547"/>
          </a:xfrm>
          <a:custGeom>
            <a:avLst/>
            <a:gdLst/>
            <a:ahLst/>
            <a:cxnLst/>
            <a:rect r="r" b="b" t="t" l="l"/>
            <a:pathLst>
              <a:path h="13920547" w="14653207">
                <a:moveTo>
                  <a:pt x="0" y="0"/>
                </a:moveTo>
                <a:lnTo>
                  <a:pt x="14653208" y="0"/>
                </a:lnTo>
                <a:lnTo>
                  <a:pt x="14653208" y="13920547"/>
                </a:lnTo>
                <a:lnTo>
                  <a:pt x="0" y="139205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98938" y="1012212"/>
            <a:ext cx="14818170" cy="1106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00"/>
              </a:lnSpc>
              <a:spcBef>
                <a:spcPct val="0"/>
              </a:spcBef>
            </a:pPr>
            <a:r>
              <a:rPr lang="en-US" b="true" sz="8506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S</a:t>
            </a:r>
            <a:r>
              <a:rPr lang="en-US" b="true" sz="8506" strike="noStrike" u="non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o</a:t>
            </a:r>
            <a:r>
              <a:rPr lang="en-US" b="true" sz="8506" strike="noStrike" u="non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cial</a:t>
            </a:r>
            <a:r>
              <a:rPr lang="en-US" b="true" sz="8506" strike="noStrike" u="non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8506" strike="noStrike" u="non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Engin</a:t>
            </a:r>
            <a:r>
              <a:rPr lang="en-US" b="true" sz="8506" strike="noStrike" u="non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eeri</a:t>
            </a:r>
            <a:r>
              <a:rPr lang="en-US" b="true" sz="8506" strike="noStrike" u="non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ng Tac</a:t>
            </a:r>
            <a:r>
              <a:rPr lang="en-US" b="true" sz="8506" strike="noStrike" u="non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t</a:t>
            </a:r>
            <a:r>
              <a:rPr lang="en-US" b="true" sz="8506" strike="noStrike" u="non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ics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307214" y="2293465"/>
            <a:ext cx="10280490" cy="767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37"/>
              </a:lnSpc>
              <a:spcBef>
                <a:spcPct val="0"/>
              </a:spcBef>
            </a:pPr>
            <a:r>
              <a:rPr lang="en-US" sz="2531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2531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s the u</a:t>
            </a:r>
            <a:r>
              <a:rPr lang="en-US" sz="2531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s</a:t>
            </a:r>
            <a:r>
              <a:rPr lang="en-US" sz="2531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e of </a:t>
            </a:r>
            <a:r>
              <a:rPr lang="en-US" sz="2531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p</a:t>
            </a:r>
            <a:r>
              <a:rPr lang="en-US" sz="2531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sy</a:t>
            </a:r>
            <a:r>
              <a:rPr lang="en-US" sz="2531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cho</a:t>
            </a:r>
            <a:r>
              <a:rPr lang="en-US" sz="2531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lo</a:t>
            </a:r>
            <a:r>
              <a:rPr lang="en-US" sz="2531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g</a:t>
            </a:r>
            <a:r>
              <a:rPr lang="en-US" sz="2531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2531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c</a:t>
            </a:r>
            <a:r>
              <a:rPr lang="en-US" sz="2531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al </a:t>
            </a:r>
            <a:r>
              <a:rPr lang="en-US" sz="2531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m</a:t>
            </a:r>
            <a:r>
              <a:rPr lang="en-US" sz="2531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anipul</a:t>
            </a:r>
            <a:r>
              <a:rPr lang="en-US" sz="2531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2531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tion to </a:t>
            </a:r>
            <a:r>
              <a:rPr lang="en-US" sz="2531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co</a:t>
            </a:r>
            <a:r>
              <a:rPr lang="en-US" sz="2531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nvi</a:t>
            </a:r>
            <a:r>
              <a:rPr lang="en-US" sz="2531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n</a:t>
            </a:r>
            <a:r>
              <a:rPr lang="en-US" sz="2531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ce </a:t>
            </a:r>
            <a:r>
              <a:rPr lang="en-US" sz="2531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p</a:t>
            </a:r>
            <a:r>
              <a:rPr lang="en-US" sz="2531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2531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opl</a:t>
            </a:r>
            <a:r>
              <a:rPr lang="en-US" sz="2531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e to re</a:t>
            </a:r>
            <a:r>
              <a:rPr lang="en-US" sz="2531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v</a:t>
            </a:r>
            <a:r>
              <a:rPr lang="en-US" sz="2531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ea</a:t>
            </a:r>
            <a:r>
              <a:rPr lang="en-US" sz="2531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l</a:t>
            </a:r>
            <a:r>
              <a:rPr lang="en-US" sz="2531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 in</a:t>
            </a:r>
            <a:r>
              <a:rPr lang="en-US" sz="2531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fo</a:t>
            </a:r>
            <a:r>
              <a:rPr lang="en-US" sz="2531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r</a:t>
            </a:r>
            <a:r>
              <a:rPr lang="en-US" sz="2531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m</a:t>
            </a:r>
            <a:r>
              <a:rPr lang="en-US" sz="2531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at</a:t>
            </a:r>
            <a:r>
              <a:rPr lang="en-US" sz="2531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2531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on or </a:t>
            </a:r>
            <a:r>
              <a:rPr lang="en-US" sz="2531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p</a:t>
            </a:r>
            <a:r>
              <a:rPr lang="en-US" sz="2531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er</a:t>
            </a:r>
            <a:r>
              <a:rPr lang="en-US" sz="2531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form</a:t>
            </a:r>
            <a:r>
              <a:rPr lang="en-US" sz="2531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 a</a:t>
            </a:r>
            <a:r>
              <a:rPr lang="en-US" sz="2531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n</a:t>
            </a:r>
            <a:r>
              <a:rPr lang="en-US" sz="2531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531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ac</a:t>
            </a:r>
            <a:r>
              <a:rPr lang="en-US" sz="2531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tion.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1147977">
            <a:off x="-87690" y="1434443"/>
            <a:ext cx="1700989" cy="417515"/>
          </a:xfrm>
          <a:custGeom>
            <a:avLst/>
            <a:gdLst/>
            <a:ahLst/>
            <a:cxnLst/>
            <a:rect r="r" b="b" t="t" l="l"/>
            <a:pathLst>
              <a:path h="417515" w="1700989">
                <a:moveTo>
                  <a:pt x="0" y="0"/>
                </a:moveTo>
                <a:lnTo>
                  <a:pt x="1700989" y="0"/>
                </a:lnTo>
                <a:lnTo>
                  <a:pt x="1700989" y="417515"/>
                </a:lnTo>
                <a:lnTo>
                  <a:pt x="0" y="4175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147977">
            <a:off x="16749678" y="5458351"/>
            <a:ext cx="1700989" cy="417515"/>
          </a:xfrm>
          <a:custGeom>
            <a:avLst/>
            <a:gdLst/>
            <a:ahLst/>
            <a:cxnLst/>
            <a:rect r="r" b="b" t="t" l="l"/>
            <a:pathLst>
              <a:path h="417515" w="1700989">
                <a:moveTo>
                  <a:pt x="0" y="0"/>
                </a:moveTo>
                <a:lnTo>
                  <a:pt x="1700989" y="0"/>
                </a:lnTo>
                <a:lnTo>
                  <a:pt x="1700989" y="417516"/>
                </a:lnTo>
                <a:lnTo>
                  <a:pt x="0" y="4175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27898" y="3955304"/>
            <a:ext cx="5098457" cy="4129750"/>
          </a:xfrm>
          <a:custGeom>
            <a:avLst/>
            <a:gdLst/>
            <a:ahLst/>
            <a:cxnLst/>
            <a:rect r="r" b="b" t="t" l="l"/>
            <a:pathLst>
              <a:path h="4129750" w="5098457">
                <a:moveTo>
                  <a:pt x="0" y="0"/>
                </a:moveTo>
                <a:lnTo>
                  <a:pt x="5098456" y="0"/>
                </a:lnTo>
                <a:lnTo>
                  <a:pt x="5098456" y="4129750"/>
                </a:lnTo>
                <a:lnTo>
                  <a:pt x="0" y="41297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8782741" y="3398757"/>
            <a:ext cx="6890476" cy="6489387"/>
            <a:chOff x="0" y="0"/>
            <a:chExt cx="9187301" cy="8652516"/>
          </a:xfrm>
        </p:grpSpPr>
        <p:grpSp>
          <p:nvGrpSpPr>
            <p:cNvPr name="Group 9" id="9"/>
            <p:cNvGrpSpPr/>
            <p:nvPr/>
          </p:nvGrpSpPr>
          <p:grpSpPr>
            <a:xfrm rot="-10800000">
              <a:off x="0" y="1206354"/>
              <a:ext cx="3819782" cy="6239808"/>
              <a:chOff x="0" y="0"/>
              <a:chExt cx="813733" cy="132927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3733" cy="1329274"/>
              </a:xfrm>
              <a:custGeom>
                <a:avLst/>
                <a:gdLst/>
                <a:ahLst/>
                <a:cxnLst/>
                <a:rect r="r" b="b" t="t" l="l"/>
                <a:pathLst>
                  <a:path h="1329274" w="813733">
                    <a:moveTo>
                      <a:pt x="85196" y="0"/>
                    </a:moveTo>
                    <a:lnTo>
                      <a:pt x="728537" y="0"/>
                    </a:lnTo>
                    <a:cubicBezTo>
                      <a:pt x="775589" y="0"/>
                      <a:pt x="813733" y="38144"/>
                      <a:pt x="813733" y="85196"/>
                    </a:cubicBezTo>
                    <a:lnTo>
                      <a:pt x="813733" y="1244078"/>
                    </a:lnTo>
                    <a:cubicBezTo>
                      <a:pt x="813733" y="1266673"/>
                      <a:pt x="804757" y="1288343"/>
                      <a:pt x="788780" y="1304321"/>
                    </a:cubicBezTo>
                    <a:cubicBezTo>
                      <a:pt x="772802" y="1320298"/>
                      <a:pt x="751132" y="1329274"/>
                      <a:pt x="728537" y="1329274"/>
                    </a:cubicBezTo>
                    <a:lnTo>
                      <a:pt x="85196" y="1329274"/>
                    </a:lnTo>
                    <a:cubicBezTo>
                      <a:pt x="38144" y="1329274"/>
                      <a:pt x="0" y="1291130"/>
                      <a:pt x="0" y="1244078"/>
                    </a:cubicBezTo>
                    <a:lnTo>
                      <a:pt x="0" y="85196"/>
                    </a:lnTo>
                    <a:cubicBezTo>
                      <a:pt x="0" y="38144"/>
                      <a:pt x="38144" y="0"/>
                      <a:pt x="85196" y="0"/>
                    </a:cubicBezTo>
                    <a:close/>
                  </a:path>
                </a:pathLst>
              </a:custGeom>
              <a:solidFill>
                <a:srgbClr val="A2ABD4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813733" cy="136737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5400000">
              <a:off x="-3242730" y="3864961"/>
              <a:ext cx="8652516" cy="922594"/>
            </a:xfrm>
            <a:custGeom>
              <a:avLst/>
              <a:gdLst/>
              <a:ahLst/>
              <a:cxnLst/>
              <a:rect r="r" b="b" t="t" l="l"/>
              <a:pathLst>
                <a:path h="922594" w="8652516">
                  <a:moveTo>
                    <a:pt x="0" y="0"/>
                  </a:moveTo>
                  <a:lnTo>
                    <a:pt x="8652517" y="0"/>
                  </a:lnTo>
                  <a:lnTo>
                    <a:pt x="8652517" y="922594"/>
                  </a:lnTo>
                  <a:lnTo>
                    <a:pt x="0" y="9225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678" t="-11032" r="-1678" b="0"/>
              </a:stretch>
            </a:blipFill>
          </p:spPr>
        </p:sp>
        <p:grpSp>
          <p:nvGrpSpPr>
            <p:cNvPr name="Group 13" id="13"/>
            <p:cNvGrpSpPr/>
            <p:nvPr/>
          </p:nvGrpSpPr>
          <p:grpSpPr>
            <a:xfrm rot="-10800000">
              <a:off x="1077738" y="0"/>
              <a:ext cx="8109563" cy="8652516"/>
              <a:chOff x="0" y="0"/>
              <a:chExt cx="1727590" cy="1843256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727590" cy="1843256"/>
              </a:xfrm>
              <a:custGeom>
                <a:avLst/>
                <a:gdLst/>
                <a:ahLst/>
                <a:cxnLst/>
                <a:rect r="r" b="b" t="t" l="l"/>
                <a:pathLst>
                  <a:path h="1843256" w="1727590">
                    <a:moveTo>
                      <a:pt x="40129" y="0"/>
                    </a:moveTo>
                    <a:lnTo>
                      <a:pt x="1687461" y="0"/>
                    </a:lnTo>
                    <a:cubicBezTo>
                      <a:pt x="1709624" y="0"/>
                      <a:pt x="1727590" y="17966"/>
                      <a:pt x="1727590" y="40129"/>
                    </a:cubicBezTo>
                    <a:lnTo>
                      <a:pt x="1727590" y="1803127"/>
                    </a:lnTo>
                    <a:cubicBezTo>
                      <a:pt x="1727590" y="1825290"/>
                      <a:pt x="1709624" y="1843256"/>
                      <a:pt x="1687461" y="1843256"/>
                    </a:cubicBezTo>
                    <a:lnTo>
                      <a:pt x="40129" y="1843256"/>
                    </a:lnTo>
                    <a:cubicBezTo>
                      <a:pt x="17966" y="1843256"/>
                      <a:pt x="0" y="1825290"/>
                      <a:pt x="0" y="1803127"/>
                    </a:cubicBezTo>
                    <a:lnTo>
                      <a:pt x="0" y="40129"/>
                    </a:lnTo>
                    <a:cubicBezTo>
                      <a:pt x="0" y="17966"/>
                      <a:pt x="17966" y="0"/>
                      <a:pt x="40129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727590" cy="1881356"/>
              </a:xfrm>
              <a:prstGeom prst="rect">
                <a:avLst/>
              </a:prstGeom>
            </p:spPr>
            <p:txBody>
              <a:bodyPr anchor="ctr" rtlCol="false" tIns="51222" lIns="51222" bIns="51222" rIns="51222"/>
              <a:lstStyle/>
              <a:p>
                <a:pPr algn="ctr">
                  <a:lnSpc>
                    <a:spcPts val="2519"/>
                  </a:lnSpc>
                </a:pPr>
              </a:p>
            </p:txBody>
          </p:sp>
        </p:grpSp>
        <p:sp>
          <p:nvSpPr>
            <p:cNvPr name="Freeform 16" id="16"/>
            <p:cNvSpPr/>
            <p:nvPr/>
          </p:nvSpPr>
          <p:spPr>
            <a:xfrm flipH="false" flipV="false" rot="0">
              <a:off x="1294500" y="6483016"/>
              <a:ext cx="441002" cy="452310"/>
            </a:xfrm>
            <a:custGeom>
              <a:avLst/>
              <a:gdLst/>
              <a:ahLst/>
              <a:cxnLst/>
              <a:rect r="r" b="b" t="t" l="l"/>
              <a:pathLst>
                <a:path h="452310" w="441002">
                  <a:moveTo>
                    <a:pt x="0" y="0"/>
                  </a:moveTo>
                  <a:lnTo>
                    <a:pt x="441002" y="0"/>
                  </a:lnTo>
                  <a:lnTo>
                    <a:pt x="441002" y="452310"/>
                  </a:lnTo>
                  <a:lnTo>
                    <a:pt x="0" y="452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294500" y="5488335"/>
              <a:ext cx="460434" cy="472240"/>
            </a:xfrm>
            <a:custGeom>
              <a:avLst/>
              <a:gdLst/>
              <a:ahLst/>
              <a:cxnLst/>
              <a:rect r="r" b="b" t="t" l="l"/>
              <a:pathLst>
                <a:path h="472240" w="460434">
                  <a:moveTo>
                    <a:pt x="0" y="0"/>
                  </a:moveTo>
                  <a:lnTo>
                    <a:pt x="460434" y="0"/>
                  </a:lnTo>
                  <a:lnTo>
                    <a:pt x="460434" y="472239"/>
                  </a:lnTo>
                  <a:lnTo>
                    <a:pt x="0" y="4722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313552" y="4508842"/>
              <a:ext cx="441382" cy="452700"/>
            </a:xfrm>
            <a:custGeom>
              <a:avLst/>
              <a:gdLst/>
              <a:ahLst/>
              <a:cxnLst/>
              <a:rect r="r" b="b" t="t" l="l"/>
              <a:pathLst>
                <a:path h="452700" w="441382">
                  <a:moveTo>
                    <a:pt x="0" y="0"/>
                  </a:moveTo>
                  <a:lnTo>
                    <a:pt x="441382" y="0"/>
                  </a:lnTo>
                  <a:lnTo>
                    <a:pt x="441382" y="452700"/>
                  </a:lnTo>
                  <a:lnTo>
                    <a:pt x="0" y="452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331964" y="2638500"/>
              <a:ext cx="445301" cy="456719"/>
            </a:xfrm>
            <a:custGeom>
              <a:avLst/>
              <a:gdLst/>
              <a:ahLst/>
              <a:cxnLst/>
              <a:rect r="r" b="b" t="t" l="l"/>
              <a:pathLst>
                <a:path h="456719" w="445301">
                  <a:moveTo>
                    <a:pt x="0" y="0"/>
                  </a:moveTo>
                  <a:lnTo>
                    <a:pt x="445301" y="0"/>
                  </a:lnTo>
                  <a:lnTo>
                    <a:pt x="445301" y="456719"/>
                  </a:lnTo>
                  <a:lnTo>
                    <a:pt x="0" y="4567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313552" y="1670656"/>
              <a:ext cx="463714" cy="475604"/>
            </a:xfrm>
            <a:custGeom>
              <a:avLst/>
              <a:gdLst/>
              <a:ahLst/>
              <a:cxnLst/>
              <a:rect r="r" b="b" t="t" l="l"/>
              <a:pathLst>
                <a:path h="475604" w="463714">
                  <a:moveTo>
                    <a:pt x="0" y="0"/>
                  </a:moveTo>
                  <a:lnTo>
                    <a:pt x="463713" y="0"/>
                  </a:lnTo>
                  <a:lnTo>
                    <a:pt x="463713" y="475603"/>
                  </a:lnTo>
                  <a:lnTo>
                    <a:pt x="0" y="475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313552" y="749273"/>
              <a:ext cx="463714" cy="475604"/>
            </a:xfrm>
            <a:custGeom>
              <a:avLst/>
              <a:gdLst/>
              <a:ahLst/>
              <a:cxnLst/>
              <a:rect r="r" b="b" t="t" l="l"/>
              <a:pathLst>
                <a:path h="475604" w="463714">
                  <a:moveTo>
                    <a:pt x="0" y="0"/>
                  </a:moveTo>
                  <a:lnTo>
                    <a:pt x="463713" y="0"/>
                  </a:lnTo>
                  <a:lnTo>
                    <a:pt x="463713" y="475604"/>
                  </a:lnTo>
                  <a:lnTo>
                    <a:pt x="0" y="475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1909891" y="701648"/>
              <a:ext cx="6926132" cy="75783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27"/>
                </a:lnSpc>
              </a:pPr>
              <a:r>
                <a:rPr lang="en-US" sz="2019" b="true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U</a:t>
              </a:r>
              <a:r>
                <a:rPr lang="en-US" b="true" sz="2019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rgency</a:t>
              </a:r>
            </a:p>
            <a:p>
              <a:pPr algn="l">
                <a:lnSpc>
                  <a:spcPts val="2827"/>
                </a:lnSpc>
              </a:pPr>
              <a:r>
                <a:rPr lang="en-US" sz="2019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"You must act within 10 minutes."</a:t>
              </a:r>
            </a:p>
            <a:p>
              <a:pPr algn="l">
                <a:lnSpc>
                  <a:spcPts val="2827"/>
                </a:lnSpc>
              </a:pPr>
              <a:r>
                <a:rPr lang="en-US" b="true" sz="2019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Fear</a:t>
              </a:r>
            </a:p>
            <a:p>
              <a:pPr algn="l">
                <a:lnSpc>
                  <a:spcPts val="2827"/>
                </a:lnSpc>
              </a:pPr>
              <a:r>
                <a:rPr lang="en-US" sz="2019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"Your account has been compromised."</a:t>
              </a:r>
            </a:p>
            <a:p>
              <a:pPr algn="l">
                <a:lnSpc>
                  <a:spcPts val="2827"/>
                </a:lnSpc>
              </a:pPr>
              <a:r>
                <a:rPr lang="en-US" b="true" sz="2019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Authority</a:t>
              </a:r>
            </a:p>
            <a:p>
              <a:pPr algn="l">
                <a:lnSpc>
                  <a:spcPts val="2827"/>
                </a:lnSpc>
              </a:pPr>
              <a:r>
                <a:rPr lang="en-US" sz="2019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 The attacker pretends to be a </a:t>
              </a:r>
              <a:r>
                <a:rPr lang="en-US" sz="2019" strike="noStrike" u="none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manager, bank employee, government official, or IT administrator.</a:t>
              </a:r>
            </a:p>
            <a:p>
              <a:pPr algn="l">
                <a:lnSpc>
                  <a:spcPts val="2827"/>
                </a:lnSpc>
              </a:pPr>
              <a:r>
                <a:rPr lang="en-US" b="true" sz="2019" strike="noStrike" u="none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Curiosity</a:t>
              </a:r>
            </a:p>
            <a:p>
              <a:pPr algn="l">
                <a:lnSpc>
                  <a:spcPts val="2827"/>
                </a:lnSpc>
              </a:pPr>
              <a:r>
                <a:rPr lang="en-US" sz="2019" strike="noStrike" u="none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"You have received a confidential document."</a:t>
              </a:r>
            </a:p>
            <a:p>
              <a:pPr algn="l">
                <a:lnSpc>
                  <a:spcPts val="2827"/>
                </a:lnSpc>
              </a:pPr>
              <a:r>
                <a:rPr lang="en-US" b="true" sz="2019" strike="noStrike" u="none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Reward</a:t>
              </a:r>
            </a:p>
            <a:p>
              <a:pPr algn="l">
                <a:lnSpc>
                  <a:spcPts val="2827"/>
                </a:lnSpc>
              </a:pPr>
              <a:r>
                <a:rPr lang="en-US" sz="2019" strike="noStrike" u="none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"Congratulations! You have won a prize."</a:t>
              </a:r>
            </a:p>
            <a:p>
              <a:pPr algn="l">
                <a:lnSpc>
                  <a:spcPts val="2827"/>
                </a:lnSpc>
              </a:pPr>
              <a:r>
                <a:rPr lang="en-US" b="true" sz="2019" strike="noStrike" u="none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Trust</a:t>
              </a:r>
            </a:p>
            <a:p>
              <a:pPr algn="l">
                <a:lnSpc>
                  <a:spcPts val="2827"/>
                </a:lnSpc>
              </a:pPr>
              <a:r>
                <a:rPr lang="en-US" sz="2019" strike="noStrike" u="none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 The attacker pretends to be someone the victim knows or a trusted organization.</a:t>
              </a:r>
            </a:p>
            <a:p>
              <a:pPr algn="l">
                <a:lnSpc>
                  <a:spcPts val="2827"/>
                </a:lnSpc>
              </a:pPr>
            </a:p>
          </p:txBody>
        </p:sp>
        <p:sp>
          <p:nvSpPr>
            <p:cNvPr name="TextBox 23" id="23"/>
            <p:cNvSpPr txBox="true"/>
            <p:nvPr/>
          </p:nvSpPr>
          <p:spPr>
            <a:xfrm rot="-5400000">
              <a:off x="-2757392" y="3965896"/>
              <a:ext cx="6766074" cy="3749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63"/>
                </a:lnSpc>
              </a:pPr>
              <a:r>
                <a:rPr lang="en-US" b="true" sz="1886">
                  <a:solidFill>
                    <a:srgbClr val="191919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</a:t>
              </a:r>
              <a:r>
                <a:rPr lang="en-US" b="true" sz="1886">
                  <a:solidFill>
                    <a:srgbClr val="191919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ommon tactics: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4741" y="-2290430"/>
            <a:ext cx="14653207" cy="13920547"/>
          </a:xfrm>
          <a:custGeom>
            <a:avLst/>
            <a:gdLst/>
            <a:ahLst/>
            <a:cxnLst/>
            <a:rect r="r" b="b" t="t" l="l"/>
            <a:pathLst>
              <a:path h="13920547" w="14653207">
                <a:moveTo>
                  <a:pt x="0" y="0"/>
                </a:moveTo>
                <a:lnTo>
                  <a:pt x="14653207" y="0"/>
                </a:lnTo>
                <a:lnTo>
                  <a:pt x="14653207" y="13920547"/>
                </a:lnTo>
                <a:lnTo>
                  <a:pt x="0" y="139205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147137" y="2448928"/>
            <a:ext cx="9993727" cy="6445954"/>
            <a:chOff x="0" y="0"/>
            <a:chExt cx="13324969" cy="859460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324969" cy="8594605"/>
            </a:xfrm>
            <a:custGeom>
              <a:avLst/>
              <a:gdLst/>
              <a:ahLst/>
              <a:cxnLst/>
              <a:rect r="r" b="b" t="t" l="l"/>
              <a:pathLst>
                <a:path h="8594605" w="13324969">
                  <a:moveTo>
                    <a:pt x="0" y="0"/>
                  </a:moveTo>
                  <a:lnTo>
                    <a:pt x="13324969" y="0"/>
                  </a:lnTo>
                  <a:lnTo>
                    <a:pt x="13324969" y="8594605"/>
                  </a:lnTo>
                  <a:lnTo>
                    <a:pt x="0" y="85946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3023452" y="346357"/>
              <a:ext cx="7901229" cy="6540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FBI</a:t>
              </a:r>
              <a:r>
                <a:rPr lang="en-US" b="true" sz="2999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 Warning: Fake IC3 Website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729151" y="2046033"/>
              <a:ext cx="12595818" cy="56711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In </a:t>
              </a:r>
              <a:r>
                <a:rPr lang="en-US" sz="2699" b="true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September 2025, </a:t>
              </a:r>
              <a:r>
                <a:rPr lang="en-US" sz="2699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the FBI</a:t>
              </a:r>
              <a:r>
                <a:rPr lang="en-US" sz="2699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 warned about threat actors impersonating the FBI's Internet Crime Complaint Center (IC3) website.</a:t>
              </a:r>
            </a:p>
            <a:p>
              <a:pPr algn="l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Attackers created spoofed websites that looked like the legitimate website. The fake domains could contain small spelling differences or use a different domain ending.</a:t>
              </a:r>
            </a:p>
            <a:p>
              <a:pPr algn="l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The goal was to trick users into providing personal and financial information.</a:t>
              </a:r>
            </a:p>
            <a:p>
              <a:pPr algn="l" marL="0" indent="0" lvl="0">
                <a:lnSpc>
                  <a:spcPts val="37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4941274" y="2036882"/>
            <a:ext cx="1700989" cy="417515"/>
          </a:xfrm>
          <a:custGeom>
            <a:avLst/>
            <a:gdLst/>
            <a:ahLst/>
            <a:cxnLst/>
            <a:rect r="r" b="b" t="t" l="l"/>
            <a:pathLst>
              <a:path h="417515" w="1700989">
                <a:moveTo>
                  <a:pt x="0" y="0"/>
                </a:moveTo>
                <a:lnTo>
                  <a:pt x="1700989" y="0"/>
                </a:lnTo>
                <a:lnTo>
                  <a:pt x="1700989" y="417515"/>
                </a:lnTo>
                <a:lnTo>
                  <a:pt x="0" y="4175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102316" y="8894882"/>
            <a:ext cx="1700989" cy="417515"/>
          </a:xfrm>
          <a:custGeom>
            <a:avLst/>
            <a:gdLst/>
            <a:ahLst/>
            <a:cxnLst/>
            <a:rect r="r" b="b" t="t" l="l"/>
            <a:pathLst>
              <a:path h="417515" w="1700989">
                <a:moveTo>
                  <a:pt x="0" y="0"/>
                </a:moveTo>
                <a:lnTo>
                  <a:pt x="1700989" y="0"/>
                </a:lnTo>
                <a:lnTo>
                  <a:pt x="1700989" y="417515"/>
                </a:lnTo>
                <a:lnTo>
                  <a:pt x="0" y="4175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604995" y="4308181"/>
            <a:ext cx="1700989" cy="417515"/>
          </a:xfrm>
          <a:custGeom>
            <a:avLst/>
            <a:gdLst/>
            <a:ahLst/>
            <a:cxnLst/>
            <a:rect r="r" b="b" t="t" l="l"/>
            <a:pathLst>
              <a:path h="417515" w="1700989">
                <a:moveTo>
                  <a:pt x="0" y="0"/>
                </a:moveTo>
                <a:lnTo>
                  <a:pt x="1700989" y="0"/>
                </a:lnTo>
                <a:lnTo>
                  <a:pt x="1700989" y="417515"/>
                </a:lnTo>
                <a:lnTo>
                  <a:pt x="0" y="4175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012021" y="933526"/>
            <a:ext cx="11898646" cy="1011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61"/>
              </a:lnSpc>
            </a:pPr>
            <a:r>
              <a:rPr lang="en-US" sz="7772" b="tru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Real-World Example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04995" y="4308181"/>
            <a:ext cx="1700989" cy="417515"/>
          </a:xfrm>
          <a:custGeom>
            <a:avLst/>
            <a:gdLst/>
            <a:ahLst/>
            <a:cxnLst/>
            <a:rect r="r" b="b" t="t" l="l"/>
            <a:pathLst>
              <a:path h="417515" w="1700989">
                <a:moveTo>
                  <a:pt x="0" y="0"/>
                </a:moveTo>
                <a:lnTo>
                  <a:pt x="1700989" y="0"/>
                </a:lnTo>
                <a:lnTo>
                  <a:pt x="1700989" y="417515"/>
                </a:lnTo>
                <a:lnTo>
                  <a:pt x="0" y="4175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102316" y="8894882"/>
            <a:ext cx="1700989" cy="417515"/>
          </a:xfrm>
          <a:custGeom>
            <a:avLst/>
            <a:gdLst/>
            <a:ahLst/>
            <a:cxnLst/>
            <a:rect r="r" b="b" t="t" l="l"/>
            <a:pathLst>
              <a:path h="417515" w="1700989">
                <a:moveTo>
                  <a:pt x="0" y="0"/>
                </a:moveTo>
                <a:lnTo>
                  <a:pt x="1700989" y="0"/>
                </a:lnTo>
                <a:lnTo>
                  <a:pt x="1700989" y="417515"/>
                </a:lnTo>
                <a:lnTo>
                  <a:pt x="0" y="4175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941274" y="2036882"/>
            <a:ext cx="1700989" cy="417515"/>
          </a:xfrm>
          <a:custGeom>
            <a:avLst/>
            <a:gdLst/>
            <a:ahLst/>
            <a:cxnLst/>
            <a:rect r="r" b="b" t="t" l="l"/>
            <a:pathLst>
              <a:path h="417515" w="1700989">
                <a:moveTo>
                  <a:pt x="0" y="0"/>
                </a:moveTo>
                <a:lnTo>
                  <a:pt x="1700989" y="0"/>
                </a:lnTo>
                <a:lnTo>
                  <a:pt x="1700989" y="417515"/>
                </a:lnTo>
                <a:lnTo>
                  <a:pt x="0" y="4175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34741" y="-2290430"/>
            <a:ext cx="14653207" cy="13920547"/>
          </a:xfrm>
          <a:custGeom>
            <a:avLst/>
            <a:gdLst/>
            <a:ahLst/>
            <a:cxnLst/>
            <a:rect r="r" b="b" t="t" l="l"/>
            <a:pathLst>
              <a:path h="13920547" w="14653207">
                <a:moveTo>
                  <a:pt x="0" y="0"/>
                </a:moveTo>
                <a:lnTo>
                  <a:pt x="14653207" y="0"/>
                </a:lnTo>
                <a:lnTo>
                  <a:pt x="14653207" y="13920547"/>
                </a:lnTo>
                <a:lnTo>
                  <a:pt x="0" y="139205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10800000">
            <a:off x="10474999" y="3104716"/>
            <a:ext cx="3156707" cy="5156640"/>
            <a:chOff x="0" y="0"/>
            <a:chExt cx="813733" cy="13292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3733" cy="1329274"/>
            </a:xfrm>
            <a:custGeom>
              <a:avLst/>
              <a:gdLst/>
              <a:ahLst/>
              <a:cxnLst/>
              <a:rect r="r" b="b" t="t" l="l"/>
              <a:pathLst>
                <a:path h="1329274" w="813733">
                  <a:moveTo>
                    <a:pt x="83386" y="0"/>
                  </a:moveTo>
                  <a:lnTo>
                    <a:pt x="730347" y="0"/>
                  </a:lnTo>
                  <a:cubicBezTo>
                    <a:pt x="776400" y="0"/>
                    <a:pt x="813733" y="37333"/>
                    <a:pt x="813733" y="83386"/>
                  </a:cubicBezTo>
                  <a:lnTo>
                    <a:pt x="813733" y="1245888"/>
                  </a:lnTo>
                  <a:cubicBezTo>
                    <a:pt x="813733" y="1268003"/>
                    <a:pt x="804948" y="1289213"/>
                    <a:pt x="789310" y="1304851"/>
                  </a:cubicBezTo>
                  <a:cubicBezTo>
                    <a:pt x="773672" y="1320489"/>
                    <a:pt x="752462" y="1329274"/>
                    <a:pt x="730347" y="1329274"/>
                  </a:cubicBezTo>
                  <a:lnTo>
                    <a:pt x="83386" y="1329274"/>
                  </a:lnTo>
                  <a:cubicBezTo>
                    <a:pt x="37333" y="1329274"/>
                    <a:pt x="0" y="1291941"/>
                    <a:pt x="0" y="1245888"/>
                  </a:cubicBezTo>
                  <a:lnTo>
                    <a:pt x="0" y="83386"/>
                  </a:lnTo>
                  <a:cubicBezTo>
                    <a:pt x="0" y="37333"/>
                    <a:pt x="37333" y="0"/>
                    <a:pt x="83386" y="0"/>
                  </a:cubicBezTo>
                  <a:close/>
                </a:path>
              </a:pathLst>
            </a:custGeom>
            <a:solidFill>
              <a:srgbClr val="717AA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13733" cy="1367374"/>
            </a:xfrm>
            <a:prstGeom prst="rect">
              <a:avLst/>
            </a:prstGeom>
          </p:spPr>
          <p:txBody>
            <a:bodyPr anchor="ctr" rtlCol="false" tIns="51903" lIns="51903" bIns="51903" rIns="51903"/>
            <a:lstStyle/>
            <a:p>
              <a:pPr algn="ctr" marL="0" indent="0" lvl="0">
                <a:lnSpc>
                  <a:spcPts val="25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5400000">
            <a:off x="7795175" y="5301816"/>
            <a:ext cx="7150527" cy="762441"/>
          </a:xfrm>
          <a:custGeom>
            <a:avLst/>
            <a:gdLst/>
            <a:ahLst/>
            <a:cxnLst/>
            <a:rect r="r" b="b" t="t" l="l"/>
            <a:pathLst>
              <a:path h="762441" w="7150527">
                <a:moveTo>
                  <a:pt x="0" y="0"/>
                </a:moveTo>
                <a:lnTo>
                  <a:pt x="7150526" y="0"/>
                </a:lnTo>
                <a:lnTo>
                  <a:pt x="7150526" y="762441"/>
                </a:lnTo>
                <a:lnTo>
                  <a:pt x="0" y="7624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678" t="-11032" r="-1678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-5400000">
            <a:off x="9311669" y="5434695"/>
            <a:ext cx="3292947" cy="496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23"/>
              </a:lnSpc>
              <a:spcBef>
                <a:spcPct val="0"/>
              </a:spcBef>
            </a:pPr>
            <a:r>
              <a:rPr lang="en-US" b="true" sz="2945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How</a:t>
            </a:r>
            <a:r>
              <a:rPr lang="en-US" b="true" sz="2945" strike="noStrike" u="non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</a:t>
            </a:r>
            <a:r>
              <a:rPr lang="en-US" b="true" sz="2945" strike="noStrike" u="non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to st</a:t>
            </a:r>
            <a:r>
              <a:rPr lang="en-US" b="true" sz="2945" strike="noStrike" u="non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</a:t>
            </a:r>
            <a:r>
              <a:rPr lang="en-US" b="true" sz="2945" strike="noStrike" u="non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y s</a:t>
            </a:r>
            <a:r>
              <a:rPr lang="en-US" b="true" sz="2945" strike="noStrike" u="non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</a:t>
            </a:r>
            <a:r>
              <a:rPr lang="en-US" b="true" sz="2945" strike="noStrike" u="non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</a:t>
            </a:r>
            <a:r>
              <a:rPr lang="en-US" b="true" sz="2945" strike="noStrike" u="non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</a:t>
            </a:r>
          </a:p>
        </p:txBody>
      </p:sp>
      <p:grpSp>
        <p:nvGrpSpPr>
          <p:cNvPr name="Group 11" id="11"/>
          <p:cNvGrpSpPr/>
          <p:nvPr/>
        </p:nvGrpSpPr>
        <p:grpSpPr>
          <a:xfrm rot="-10800000">
            <a:off x="11365652" y="2107773"/>
            <a:ext cx="6147654" cy="7150527"/>
            <a:chOff x="0" y="0"/>
            <a:chExt cx="1584737" cy="184325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84737" cy="1843256"/>
            </a:xfrm>
            <a:custGeom>
              <a:avLst/>
              <a:gdLst/>
              <a:ahLst/>
              <a:cxnLst/>
              <a:rect r="r" b="b" t="t" l="l"/>
              <a:pathLst>
                <a:path h="1843256" w="1584737">
                  <a:moveTo>
                    <a:pt x="42817" y="0"/>
                  </a:moveTo>
                  <a:lnTo>
                    <a:pt x="1541919" y="0"/>
                  </a:lnTo>
                  <a:cubicBezTo>
                    <a:pt x="1553275" y="0"/>
                    <a:pt x="1564166" y="4511"/>
                    <a:pt x="1572196" y="12541"/>
                  </a:cubicBezTo>
                  <a:cubicBezTo>
                    <a:pt x="1580226" y="20571"/>
                    <a:pt x="1584737" y="31461"/>
                    <a:pt x="1584737" y="42817"/>
                  </a:cubicBezTo>
                  <a:lnTo>
                    <a:pt x="1584737" y="1800439"/>
                  </a:lnTo>
                  <a:cubicBezTo>
                    <a:pt x="1584737" y="1811795"/>
                    <a:pt x="1580226" y="1822686"/>
                    <a:pt x="1572196" y="1830715"/>
                  </a:cubicBezTo>
                  <a:cubicBezTo>
                    <a:pt x="1564166" y="1838745"/>
                    <a:pt x="1553275" y="1843256"/>
                    <a:pt x="1541919" y="1843256"/>
                  </a:cubicBezTo>
                  <a:lnTo>
                    <a:pt x="42817" y="1843256"/>
                  </a:lnTo>
                  <a:cubicBezTo>
                    <a:pt x="31461" y="1843256"/>
                    <a:pt x="20571" y="1838745"/>
                    <a:pt x="12541" y="1830715"/>
                  </a:cubicBezTo>
                  <a:cubicBezTo>
                    <a:pt x="4511" y="1822686"/>
                    <a:pt x="0" y="1811795"/>
                    <a:pt x="0" y="1800439"/>
                  </a:cubicBezTo>
                  <a:lnTo>
                    <a:pt x="0" y="42817"/>
                  </a:lnTo>
                  <a:cubicBezTo>
                    <a:pt x="0" y="31461"/>
                    <a:pt x="4511" y="20571"/>
                    <a:pt x="12541" y="12541"/>
                  </a:cubicBezTo>
                  <a:cubicBezTo>
                    <a:pt x="20571" y="4511"/>
                    <a:pt x="31461" y="0"/>
                    <a:pt x="4281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84737" cy="1881356"/>
            </a:xfrm>
            <a:prstGeom prst="rect">
              <a:avLst/>
            </a:prstGeom>
          </p:spPr>
          <p:txBody>
            <a:bodyPr anchor="ctr" rtlCol="false" tIns="51903" lIns="51903" bIns="51903" rIns="51903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74694" y="2107773"/>
            <a:ext cx="7039858" cy="7150527"/>
            <a:chOff x="0" y="0"/>
            <a:chExt cx="9386478" cy="9534036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5177536" y="1329258"/>
              <a:ext cx="4208942" cy="6875520"/>
              <a:chOff x="0" y="0"/>
              <a:chExt cx="813733" cy="1329274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3733" cy="1329274"/>
              </a:xfrm>
              <a:custGeom>
                <a:avLst/>
                <a:gdLst/>
                <a:ahLst/>
                <a:cxnLst/>
                <a:rect r="r" b="b" t="t" l="l"/>
                <a:pathLst>
                  <a:path h="1329274" w="813733">
                    <a:moveTo>
                      <a:pt x="85196" y="0"/>
                    </a:moveTo>
                    <a:lnTo>
                      <a:pt x="728537" y="0"/>
                    </a:lnTo>
                    <a:cubicBezTo>
                      <a:pt x="775589" y="0"/>
                      <a:pt x="813733" y="38144"/>
                      <a:pt x="813733" y="85196"/>
                    </a:cubicBezTo>
                    <a:lnTo>
                      <a:pt x="813733" y="1244078"/>
                    </a:lnTo>
                    <a:cubicBezTo>
                      <a:pt x="813733" y="1266673"/>
                      <a:pt x="804757" y="1288343"/>
                      <a:pt x="788780" y="1304321"/>
                    </a:cubicBezTo>
                    <a:cubicBezTo>
                      <a:pt x="772802" y="1320298"/>
                      <a:pt x="751132" y="1329274"/>
                      <a:pt x="728537" y="1329274"/>
                    </a:cubicBezTo>
                    <a:lnTo>
                      <a:pt x="85196" y="1329274"/>
                    </a:lnTo>
                    <a:cubicBezTo>
                      <a:pt x="38144" y="1329274"/>
                      <a:pt x="0" y="1291130"/>
                      <a:pt x="0" y="1244078"/>
                    </a:cubicBezTo>
                    <a:lnTo>
                      <a:pt x="0" y="85196"/>
                    </a:lnTo>
                    <a:cubicBezTo>
                      <a:pt x="0" y="38144"/>
                      <a:pt x="38144" y="0"/>
                      <a:pt x="85196" y="0"/>
                    </a:cubicBezTo>
                    <a:close/>
                  </a:path>
                </a:pathLst>
              </a:custGeom>
              <a:solidFill>
                <a:srgbClr val="A2ABD4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813733" cy="136737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1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8" id="18"/>
            <p:cNvSpPr/>
            <p:nvPr/>
          </p:nvSpPr>
          <p:spPr>
            <a:xfrm flipH="false" flipV="false" rot="-5400000">
              <a:off x="3429854" y="4258724"/>
              <a:ext cx="9534036" cy="1016588"/>
            </a:xfrm>
            <a:custGeom>
              <a:avLst/>
              <a:gdLst/>
              <a:ahLst/>
              <a:cxnLst/>
              <a:rect r="r" b="b" t="t" l="l"/>
              <a:pathLst>
                <a:path h="1016588" w="9534036">
                  <a:moveTo>
                    <a:pt x="0" y="0"/>
                  </a:moveTo>
                  <a:lnTo>
                    <a:pt x="9534036" y="0"/>
                  </a:lnTo>
                  <a:lnTo>
                    <a:pt x="9534036" y="1016588"/>
                  </a:lnTo>
                  <a:lnTo>
                    <a:pt x="0" y="1016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678" t="-11032" r="-1678" b="0"/>
              </a:stretch>
            </a:blipFill>
          </p:spPr>
        </p:sp>
        <p:grpSp>
          <p:nvGrpSpPr>
            <p:cNvPr name="Group 19" id="19"/>
            <p:cNvGrpSpPr/>
            <p:nvPr/>
          </p:nvGrpSpPr>
          <p:grpSpPr>
            <a:xfrm rot="0">
              <a:off x="0" y="0"/>
              <a:ext cx="8196872" cy="9534036"/>
              <a:chOff x="0" y="0"/>
              <a:chExt cx="1584737" cy="1843256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584737" cy="1843256"/>
              </a:xfrm>
              <a:custGeom>
                <a:avLst/>
                <a:gdLst/>
                <a:ahLst/>
                <a:cxnLst/>
                <a:rect r="r" b="b" t="t" l="l"/>
                <a:pathLst>
                  <a:path h="1843256" w="1584737">
                    <a:moveTo>
                      <a:pt x="43747" y="0"/>
                    </a:moveTo>
                    <a:lnTo>
                      <a:pt x="1540990" y="0"/>
                    </a:lnTo>
                    <a:cubicBezTo>
                      <a:pt x="1565151" y="0"/>
                      <a:pt x="1584737" y="19586"/>
                      <a:pt x="1584737" y="43747"/>
                    </a:cubicBezTo>
                    <a:lnTo>
                      <a:pt x="1584737" y="1799510"/>
                    </a:lnTo>
                    <a:cubicBezTo>
                      <a:pt x="1584737" y="1823670"/>
                      <a:pt x="1565151" y="1843256"/>
                      <a:pt x="1540990" y="1843256"/>
                    </a:cubicBezTo>
                    <a:lnTo>
                      <a:pt x="43747" y="1843256"/>
                    </a:lnTo>
                    <a:cubicBezTo>
                      <a:pt x="19586" y="1843256"/>
                      <a:pt x="0" y="1823670"/>
                      <a:pt x="0" y="1799510"/>
                    </a:cubicBezTo>
                    <a:lnTo>
                      <a:pt x="0" y="43747"/>
                    </a:lnTo>
                    <a:cubicBezTo>
                      <a:pt x="0" y="19586"/>
                      <a:pt x="19586" y="0"/>
                      <a:pt x="43747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584737" cy="188135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1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5400000">
              <a:off x="5799985" y="4623535"/>
              <a:ext cx="5803481" cy="4489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60"/>
                </a:lnSpc>
                <a:spcBef>
                  <a:spcPct val="0"/>
                </a:spcBef>
              </a:pPr>
              <a:r>
                <a:rPr lang="en-US" b="true" sz="2043">
                  <a:solidFill>
                    <a:srgbClr val="19191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What ma</a:t>
              </a:r>
              <a:r>
                <a:rPr lang="en-US" b="true" sz="2043" strike="noStrike" u="none">
                  <a:solidFill>
                    <a:srgbClr val="19191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d</a:t>
              </a:r>
              <a:r>
                <a:rPr lang="en-US" b="true" sz="2043" strike="noStrike" u="none">
                  <a:solidFill>
                    <a:srgbClr val="19191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e </a:t>
              </a:r>
              <a:r>
                <a:rPr lang="en-US" b="true" sz="2043" strike="noStrike" u="none">
                  <a:solidFill>
                    <a:srgbClr val="19191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t</a:t>
              </a:r>
              <a:r>
                <a:rPr lang="en-US" b="true" sz="2043" strike="noStrike" u="none">
                  <a:solidFill>
                    <a:srgbClr val="19191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he</a:t>
              </a:r>
              <a:r>
                <a:rPr lang="en-US" b="true" sz="2043" strike="noStrike" u="none">
                  <a:solidFill>
                    <a:srgbClr val="19191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 at</a:t>
              </a:r>
              <a:r>
                <a:rPr lang="en-US" b="true" sz="2043" strike="noStrike" u="none">
                  <a:solidFill>
                    <a:srgbClr val="19191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tack dang</a:t>
              </a:r>
              <a:r>
                <a:rPr lang="en-US" b="true" sz="2043" strike="noStrike" u="none">
                  <a:solidFill>
                    <a:srgbClr val="19191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erous?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95994" y="3576557"/>
            <a:ext cx="5342959" cy="4618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2837" indent="-281418" lvl="1">
              <a:lnSpc>
                <a:spcPts val="3649"/>
              </a:lnSpc>
              <a:buFont typeface="Arial"/>
              <a:buChar char="•"/>
            </a:pPr>
            <a:r>
              <a:rPr lang="en-US" sz="2606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The website looked legitimate.</a:t>
            </a:r>
          </a:p>
          <a:p>
            <a:pPr algn="l" marL="562837" indent="-281418" lvl="1">
              <a:lnSpc>
                <a:spcPts val="3649"/>
              </a:lnSpc>
              <a:buFont typeface="Arial"/>
              <a:buChar char="•"/>
            </a:pPr>
            <a:r>
              <a:rPr lang="en-US" sz="2606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The domain was slightly different.</a:t>
            </a:r>
          </a:p>
          <a:p>
            <a:pPr algn="l" marL="562837" indent="-281418" lvl="1">
              <a:lnSpc>
                <a:spcPts val="3649"/>
              </a:lnSpc>
              <a:spcBef>
                <a:spcPct val="0"/>
              </a:spcBef>
              <a:buFont typeface="Arial"/>
              <a:buChar char="•"/>
            </a:pPr>
            <a:r>
              <a:rPr lang="en-US" sz="2606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Users could reach th</a:t>
            </a:r>
            <a:r>
              <a:rPr lang="en-US" sz="2606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e fake website while searching for the real service.</a:t>
            </a:r>
          </a:p>
          <a:p>
            <a:pPr algn="l" marL="562837" indent="-281418" lvl="1">
              <a:lnSpc>
                <a:spcPts val="3649"/>
              </a:lnSpc>
              <a:spcBef>
                <a:spcPct val="0"/>
              </a:spcBef>
              <a:buFont typeface="Arial"/>
              <a:buChar char="•"/>
            </a:pPr>
            <a:r>
              <a:rPr lang="en-US" sz="2606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Information entered into the fake website could be collected by attackers.</a:t>
            </a:r>
          </a:p>
          <a:p>
            <a:pPr algn="l" marL="0" indent="0" lvl="0">
              <a:lnSpc>
                <a:spcPts val="3649"/>
              </a:lnSpc>
              <a:spcBef>
                <a:spcPct val="0"/>
              </a:spcBef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1751659" y="3576557"/>
            <a:ext cx="5421923" cy="4155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2837" indent="-281418" lvl="1">
              <a:lnSpc>
                <a:spcPts val="3649"/>
              </a:lnSpc>
              <a:buFont typeface="Arial"/>
              <a:buChar char="•"/>
            </a:pPr>
            <a:r>
              <a:rPr lang="en-US" sz="2606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Type the official website address directly into the browser.</a:t>
            </a:r>
          </a:p>
          <a:p>
            <a:pPr algn="l" marL="562837" indent="-281418" lvl="1">
              <a:lnSpc>
                <a:spcPts val="3649"/>
              </a:lnSpc>
              <a:spcBef>
                <a:spcPct val="0"/>
              </a:spcBef>
              <a:buFont typeface="Arial"/>
              <a:buChar char="•"/>
            </a:pPr>
            <a:r>
              <a:rPr lang="en-US" sz="2606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Ca</a:t>
            </a:r>
            <a:r>
              <a:rPr lang="en-US" sz="2606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refully check th</a:t>
            </a:r>
            <a:r>
              <a:rPr lang="en-US" sz="2606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e URL.</a:t>
            </a:r>
          </a:p>
          <a:p>
            <a:pPr algn="l" marL="562837" indent="-281418" lvl="1">
              <a:lnSpc>
                <a:spcPts val="3649"/>
              </a:lnSpc>
              <a:spcBef>
                <a:spcPct val="0"/>
              </a:spcBef>
              <a:buFont typeface="Arial"/>
              <a:buChar char="•"/>
            </a:pPr>
            <a:r>
              <a:rPr lang="en-US" sz="2606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Avoid suspicious search advertisements.</a:t>
            </a:r>
          </a:p>
          <a:p>
            <a:pPr algn="l" marL="562837" indent="-281418" lvl="1">
              <a:lnSpc>
                <a:spcPts val="3649"/>
              </a:lnSpc>
              <a:spcBef>
                <a:spcPct val="0"/>
              </a:spcBef>
              <a:buFont typeface="Arial"/>
              <a:buChar char="•"/>
            </a:pPr>
            <a:r>
              <a:rPr lang="en-US" sz="2606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Never enter sensitive information when the website's legitimacy is uncertain.</a:t>
            </a:r>
          </a:p>
          <a:p>
            <a:pPr algn="l" marL="0" indent="0" lvl="0">
              <a:lnSpc>
                <a:spcPts val="364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941274" y="2036882"/>
            <a:ext cx="1700989" cy="417515"/>
          </a:xfrm>
          <a:custGeom>
            <a:avLst/>
            <a:gdLst/>
            <a:ahLst/>
            <a:cxnLst/>
            <a:rect r="r" b="b" t="t" l="l"/>
            <a:pathLst>
              <a:path h="417515" w="1700989">
                <a:moveTo>
                  <a:pt x="0" y="0"/>
                </a:moveTo>
                <a:lnTo>
                  <a:pt x="1700989" y="0"/>
                </a:lnTo>
                <a:lnTo>
                  <a:pt x="1700989" y="417515"/>
                </a:lnTo>
                <a:lnTo>
                  <a:pt x="0" y="4175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102316" y="8894882"/>
            <a:ext cx="1700989" cy="417515"/>
          </a:xfrm>
          <a:custGeom>
            <a:avLst/>
            <a:gdLst/>
            <a:ahLst/>
            <a:cxnLst/>
            <a:rect r="r" b="b" t="t" l="l"/>
            <a:pathLst>
              <a:path h="417515" w="1700989">
                <a:moveTo>
                  <a:pt x="0" y="0"/>
                </a:moveTo>
                <a:lnTo>
                  <a:pt x="1700989" y="0"/>
                </a:lnTo>
                <a:lnTo>
                  <a:pt x="1700989" y="417515"/>
                </a:lnTo>
                <a:lnTo>
                  <a:pt x="0" y="4175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62804" y="-2366165"/>
            <a:ext cx="14653207" cy="13920547"/>
          </a:xfrm>
          <a:custGeom>
            <a:avLst/>
            <a:gdLst/>
            <a:ahLst/>
            <a:cxnLst/>
            <a:rect r="r" b="b" t="t" l="l"/>
            <a:pathLst>
              <a:path h="13920547" w="14653207">
                <a:moveTo>
                  <a:pt x="0" y="0"/>
                </a:moveTo>
                <a:lnTo>
                  <a:pt x="14653208" y="0"/>
                </a:lnTo>
                <a:lnTo>
                  <a:pt x="14653208" y="13920547"/>
                </a:lnTo>
                <a:lnTo>
                  <a:pt x="0" y="139205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856855" y="1344954"/>
            <a:ext cx="3493464" cy="7913346"/>
            <a:chOff x="0" y="0"/>
            <a:chExt cx="4657952" cy="10551127"/>
          </a:xfrm>
        </p:grpSpPr>
        <p:grpSp>
          <p:nvGrpSpPr>
            <p:cNvPr name="Group 6" id="6"/>
            <p:cNvGrpSpPr/>
            <p:nvPr/>
          </p:nvGrpSpPr>
          <p:grpSpPr>
            <a:xfrm rot="-10800000">
              <a:off x="0" y="1471063"/>
              <a:ext cx="4657952" cy="7609002"/>
              <a:chOff x="0" y="0"/>
              <a:chExt cx="813733" cy="132927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3733" cy="1329274"/>
              </a:xfrm>
              <a:custGeom>
                <a:avLst/>
                <a:gdLst/>
                <a:ahLst/>
                <a:cxnLst/>
                <a:rect r="r" b="b" t="t" l="l"/>
                <a:pathLst>
                  <a:path h="1329274" w="813733">
                    <a:moveTo>
                      <a:pt x="85196" y="0"/>
                    </a:moveTo>
                    <a:lnTo>
                      <a:pt x="728537" y="0"/>
                    </a:lnTo>
                    <a:cubicBezTo>
                      <a:pt x="775589" y="0"/>
                      <a:pt x="813733" y="38144"/>
                      <a:pt x="813733" y="85196"/>
                    </a:cubicBezTo>
                    <a:lnTo>
                      <a:pt x="813733" y="1244078"/>
                    </a:lnTo>
                    <a:cubicBezTo>
                      <a:pt x="813733" y="1266673"/>
                      <a:pt x="804757" y="1288343"/>
                      <a:pt x="788780" y="1304321"/>
                    </a:cubicBezTo>
                    <a:cubicBezTo>
                      <a:pt x="772802" y="1320298"/>
                      <a:pt x="751132" y="1329274"/>
                      <a:pt x="728537" y="1329274"/>
                    </a:cubicBezTo>
                    <a:lnTo>
                      <a:pt x="85196" y="1329274"/>
                    </a:lnTo>
                    <a:cubicBezTo>
                      <a:pt x="38144" y="1329274"/>
                      <a:pt x="0" y="1291130"/>
                      <a:pt x="0" y="1244078"/>
                    </a:cubicBezTo>
                    <a:lnTo>
                      <a:pt x="0" y="85196"/>
                    </a:lnTo>
                    <a:cubicBezTo>
                      <a:pt x="0" y="38144"/>
                      <a:pt x="38144" y="0"/>
                      <a:pt x="85196" y="0"/>
                    </a:cubicBezTo>
                    <a:close/>
                  </a:path>
                </a:pathLst>
              </a:custGeom>
              <a:solidFill>
                <a:srgbClr val="A2ABD4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813733" cy="136737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-5400000">
              <a:off x="-3954278" y="4713045"/>
              <a:ext cx="10551127" cy="1125038"/>
            </a:xfrm>
            <a:custGeom>
              <a:avLst/>
              <a:gdLst/>
              <a:ahLst/>
              <a:cxnLst/>
              <a:rect r="r" b="b" t="t" l="l"/>
              <a:pathLst>
                <a:path h="1125038" w="10551127">
                  <a:moveTo>
                    <a:pt x="0" y="0"/>
                  </a:moveTo>
                  <a:lnTo>
                    <a:pt x="10551128" y="0"/>
                  </a:lnTo>
                  <a:lnTo>
                    <a:pt x="10551128" y="1125038"/>
                  </a:lnTo>
                  <a:lnTo>
                    <a:pt x="0" y="1125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678" t="-11032" r="-1678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-10800000">
            <a:off x="9842524" y="1344954"/>
            <a:ext cx="7416776" cy="7913346"/>
            <a:chOff x="0" y="0"/>
            <a:chExt cx="1727590" cy="18432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27590" cy="1843256"/>
            </a:xfrm>
            <a:custGeom>
              <a:avLst/>
              <a:gdLst/>
              <a:ahLst/>
              <a:cxnLst/>
              <a:rect r="r" b="b" t="t" l="l"/>
              <a:pathLst>
                <a:path h="1843256" w="1727590">
                  <a:moveTo>
                    <a:pt x="35491" y="0"/>
                  </a:moveTo>
                  <a:lnTo>
                    <a:pt x="1692100" y="0"/>
                  </a:lnTo>
                  <a:cubicBezTo>
                    <a:pt x="1701512" y="0"/>
                    <a:pt x="1710540" y="3739"/>
                    <a:pt x="1717195" y="10395"/>
                  </a:cubicBezTo>
                  <a:cubicBezTo>
                    <a:pt x="1723851" y="17051"/>
                    <a:pt x="1727590" y="26078"/>
                    <a:pt x="1727590" y="35491"/>
                  </a:cubicBezTo>
                  <a:lnTo>
                    <a:pt x="1727590" y="1807766"/>
                  </a:lnTo>
                  <a:cubicBezTo>
                    <a:pt x="1727590" y="1817178"/>
                    <a:pt x="1723851" y="1826206"/>
                    <a:pt x="1717195" y="1832861"/>
                  </a:cubicBezTo>
                  <a:cubicBezTo>
                    <a:pt x="1710540" y="1839517"/>
                    <a:pt x="1701512" y="1843256"/>
                    <a:pt x="1692100" y="1843256"/>
                  </a:cubicBezTo>
                  <a:lnTo>
                    <a:pt x="35491" y="1843256"/>
                  </a:lnTo>
                  <a:cubicBezTo>
                    <a:pt x="26078" y="1843256"/>
                    <a:pt x="17051" y="1839517"/>
                    <a:pt x="10395" y="1832861"/>
                  </a:cubicBezTo>
                  <a:cubicBezTo>
                    <a:pt x="3739" y="1826206"/>
                    <a:pt x="0" y="1817178"/>
                    <a:pt x="0" y="1807766"/>
                  </a:cubicBezTo>
                  <a:lnTo>
                    <a:pt x="0" y="35491"/>
                  </a:lnTo>
                  <a:cubicBezTo>
                    <a:pt x="0" y="26078"/>
                    <a:pt x="3739" y="17051"/>
                    <a:pt x="10395" y="10395"/>
                  </a:cubicBezTo>
                  <a:cubicBezTo>
                    <a:pt x="17051" y="3739"/>
                    <a:pt x="26078" y="0"/>
                    <a:pt x="3549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727590" cy="1881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07214" y="1642088"/>
            <a:ext cx="6687395" cy="7319079"/>
            <a:chOff x="0" y="0"/>
            <a:chExt cx="8916526" cy="9758772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776549" y="8832547"/>
              <a:ext cx="8139978" cy="926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83"/>
                </a:lnSpc>
              </a:pPr>
              <a:r>
                <a:rPr lang="en-US" sz="2059" strike="noStrike" u="none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When something feels urgent, slow down and verify first.</a:t>
              </a:r>
            </a:p>
          </p:txBody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70713" cy="485106"/>
            </a:xfrm>
            <a:custGeom>
              <a:avLst/>
              <a:gdLst/>
              <a:ahLst/>
              <a:cxnLst/>
              <a:rect r="r" b="b" t="t" l="l"/>
              <a:pathLst>
                <a:path h="485106" w="570713">
                  <a:moveTo>
                    <a:pt x="0" y="0"/>
                  </a:moveTo>
                  <a:lnTo>
                    <a:pt x="570713" y="0"/>
                  </a:lnTo>
                  <a:lnTo>
                    <a:pt x="570713" y="485106"/>
                  </a:lnTo>
                  <a:lnTo>
                    <a:pt x="0" y="4851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776549" y="-7281"/>
              <a:ext cx="8139978" cy="459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83"/>
                </a:lnSpc>
              </a:pPr>
              <a:r>
                <a:rPr lang="en-US" sz="2059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Verify the sender and e</a:t>
              </a:r>
              <a:r>
                <a:rPr lang="en-US" sz="2059" strike="noStrike" u="none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mail address.</a:t>
              </a:r>
            </a:p>
          </p:txBody>
        </p:sp>
        <p:sp>
          <p:nvSpPr>
            <p:cNvPr name="Freeform 17" id="17"/>
            <p:cNvSpPr/>
            <p:nvPr/>
          </p:nvSpPr>
          <p:spPr>
            <a:xfrm flipH="false" flipV="false" rot="0">
              <a:off x="0" y="802570"/>
              <a:ext cx="570713" cy="485106"/>
            </a:xfrm>
            <a:custGeom>
              <a:avLst/>
              <a:gdLst/>
              <a:ahLst/>
              <a:cxnLst/>
              <a:rect r="r" b="b" t="t" l="l"/>
              <a:pathLst>
                <a:path h="485106" w="570713">
                  <a:moveTo>
                    <a:pt x="0" y="0"/>
                  </a:moveTo>
                  <a:lnTo>
                    <a:pt x="570713" y="0"/>
                  </a:lnTo>
                  <a:lnTo>
                    <a:pt x="570713" y="485106"/>
                  </a:lnTo>
                  <a:lnTo>
                    <a:pt x="0" y="4851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776549" y="835634"/>
              <a:ext cx="8139978" cy="4520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83"/>
                </a:lnSpc>
              </a:pPr>
              <a:r>
                <a:rPr lang="en-US" sz="2059" strike="noStrike" u="none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Check links before openin</a:t>
              </a:r>
              <a:r>
                <a:rPr lang="en-US" sz="2059" strike="noStrike" u="none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g</a:t>
              </a:r>
              <a:r>
                <a:rPr lang="en-US" sz="2059" strike="noStrike" u="none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 </a:t>
              </a:r>
              <a:r>
                <a:rPr lang="en-US" sz="2059" strike="noStrike" u="none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them.</a:t>
              </a:r>
            </a:p>
          </p:txBody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601276"/>
              <a:ext cx="570713" cy="485106"/>
            </a:xfrm>
            <a:custGeom>
              <a:avLst/>
              <a:gdLst/>
              <a:ahLst/>
              <a:cxnLst/>
              <a:rect r="r" b="b" t="t" l="l"/>
              <a:pathLst>
                <a:path h="485106" w="570713">
                  <a:moveTo>
                    <a:pt x="0" y="0"/>
                  </a:moveTo>
                  <a:lnTo>
                    <a:pt x="570713" y="0"/>
                  </a:lnTo>
                  <a:lnTo>
                    <a:pt x="570713" y="485106"/>
                  </a:lnTo>
                  <a:lnTo>
                    <a:pt x="0" y="4851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776549" y="1553651"/>
              <a:ext cx="8139978" cy="4520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83"/>
                </a:lnSpc>
              </a:pPr>
              <a:r>
                <a:rPr lang="en-US" sz="2059" strike="noStrike" u="none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Do not open u</a:t>
              </a:r>
              <a:r>
                <a:rPr lang="en-US" sz="2059" strike="noStrike" u="none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n</a:t>
              </a:r>
              <a:r>
                <a:rPr lang="en-US" sz="2059" strike="noStrike" u="none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expected </a:t>
              </a:r>
              <a:r>
                <a:rPr lang="en-US" sz="2059" strike="noStrike" u="none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a</a:t>
              </a:r>
              <a:r>
                <a:rPr lang="en-US" sz="2059" strike="noStrike" u="none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ttach</a:t>
              </a:r>
              <a:r>
                <a:rPr lang="en-US" sz="2059" strike="noStrike" u="none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me</a:t>
              </a:r>
              <a:r>
                <a:rPr lang="en-US" sz="2059" strike="noStrike" u="none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nt</a:t>
              </a:r>
              <a:r>
                <a:rPr lang="en-US" sz="2059" strike="noStrike" u="none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s.</a:t>
              </a:r>
            </a:p>
          </p:txBody>
        </p:sp>
        <p:sp>
          <p:nvSpPr>
            <p:cNvPr name="Freeform 21" id="21"/>
            <p:cNvSpPr/>
            <p:nvPr/>
          </p:nvSpPr>
          <p:spPr>
            <a:xfrm flipH="false" flipV="false" rot="0">
              <a:off x="0" y="2399981"/>
              <a:ext cx="570713" cy="485106"/>
            </a:xfrm>
            <a:custGeom>
              <a:avLst/>
              <a:gdLst/>
              <a:ahLst/>
              <a:cxnLst/>
              <a:rect r="r" b="b" t="t" l="l"/>
              <a:pathLst>
                <a:path h="485106" w="570713">
                  <a:moveTo>
                    <a:pt x="0" y="0"/>
                  </a:moveTo>
                  <a:lnTo>
                    <a:pt x="570713" y="0"/>
                  </a:lnTo>
                  <a:lnTo>
                    <a:pt x="570713" y="485106"/>
                  </a:lnTo>
                  <a:lnTo>
                    <a:pt x="0" y="4851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776549" y="2329956"/>
              <a:ext cx="8139978" cy="926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83"/>
                </a:lnSpc>
              </a:pPr>
              <a:r>
                <a:rPr lang="en-US" sz="2059" strike="noStrike" u="none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Do not provide passwords, OTPs, or financial information through unexpected requests.</a:t>
              </a:r>
            </a:p>
          </p:txBody>
        </p:sp>
        <p:sp>
          <p:nvSpPr>
            <p:cNvPr name="Freeform 23" id="23"/>
            <p:cNvSpPr/>
            <p:nvPr/>
          </p:nvSpPr>
          <p:spPr>
            <a:xfrm flipH="false" flipV="false" rot="0">
              <a:off x="0" y="3393052"/>
              <a:ext cx="570713" cy="485106"/>
            </a:xfrm>
            <a:custGeom>
              <a:avLst/>
              <a:gdLst/>
              <a:ahLst/>
              <a:cxnLst/>
              <a:rect r="r" b="b" t="t" l="l"/>
              <a:pathLst>
                <a:path h="485106" w="570713">
                  <a:moveTo>
                    <a:pt x="0" y="0"/>
                  </a:moveTo>
                  <a:lnTo>
                    <a:pt x="570713" y="0"/>
                  </a:lnTo>
                  <a:lnTo>
                    <a:pt x="570713" y="485106"/>
                  </a:lnTo>
                  <a:lnTo>
                    <a:pt x="0" y="4851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776549" y="3385771"/>
              <a:ext cx="8139978" cy="4520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83"/>
                </a:lnSpc>
              </a:pPr>
              <a:r>
                <a:rPr lang="en-US" sz="2059" strike="noStrike" u="none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Use Multi-Factor Authentication (MFA).</a:t>
              </a:r>
            </a:p>
          </p:txBody>
        </p:sp>
        <p:sp>
          <p:nvSpPr>
            <p:cNvPr name="Freeform 25" id="25"/>
            <p:cNvSpPr/>
            <p:nvPr/>
          </p:nvSpPr>
          <p:spPr>
            <a:xfrm flipH="false" flipV="false" rot="0">
              <a:off x="0" y="4191757"/>
              <a:ext cx="570713" cy="485106"/>
            </a:xfrm>
            <a:custGeom>
              <a:avLst/>
              <a:gdLst/>
              <a:ahLst/>
              <a:cxnLst/>
              <a:rect r="r" b="b" t="t" l="l"/>
              <a:pathLst>
                <a:path h="485106" w="570713">
                  <a:moveTo>
                    <a:pt x="0" y="0"/>
                  </a:moveTo>
                  <a:lnTo>
                    <a:pt x="570713" y="0"/>
                  </a:lnTo>
                  <a:lnTo>
                    <a:pt x="570713" y="485106"/>
                  </a:lnTo>
                  <a:lnTo>
                    <a:pt x="0" y="4851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 rot="0">
              <a:off x="776549" y="4144132"/>
              <a:ext cx="8139978" cy="926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83"/>
                </a:lnSpc>
              </a:pPr>
              <a:r>
                <a:rPr lang="en-US" sz="2059" strike="noStrike" u="none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Keep your operating system, browser, and security software updated.</a:t>
              </a:r>
            </a:p>
          </p:txBody>
        </p:sp>
        <p:sp>
          <p:nvSpPr>
            <p:cNvPr name="Freeform 27" id="27"/>
            <p:cNvSpPr/>
            <p:nvPr/>
          </p:nvSpPr>
          <p:spPr>
            <a:xfrm flipH="false" flipV="false" rot="0">
              <a:off x="0" y="5249557"/>
              <a:ext cx="570713" cy="485106"/>
            </a:xfrm>
            <a:custGeom>
              <a:avLst/>
              <a:gdLst/>
              <a:ahLst/>
              <a:cxnLst/>
              <a:rect r="r" b="b" t="t" l="l"/>
              <a:pathLst>
                <a:path h="485106" w="570713">
                  <a:moveTo>
                    <a:pt x="0" y="0"/>
                  </a:moveTo>
                  <a:lnTo>
                    <a:pt x="570713" y="0"/>
                  </a:lnTo>
                  <a:lnTo>
                    <a:pt x="570713" y="485106"/>
                  </a:lnTo>
                  <a:lnTo>
                    <a:pt x="0" y="4851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 rot="0">
              <a:off x="776549" y="5242276"/>
              <a:ext cx="8139978" cy="4520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83"/>
                </a:lnSpc>
              </a:pPr>
              <a:r>
                <a:rPr lang="en-US" sz="2059" strike="noStrike" u="none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Use spam and phishing filters.</a:t>
              </a:r>
            </a:p>
          </p:txBody>
        </p:sp>
        <p:sp>
          <p:nvSpPr>
            <p:cNvPr name="Freeform 29" id="29"/>
            <p:cNvSpPr/>
            <p:nvPr/>
          </p:nvSpPr>
          <p:spPr>
            <a:xfrm flipH="false" flipV="false" rot="0">
              <a:off x="0" y="6048262"/>
              <a:ext cx="570713" cy="485106"/>
            </a:xfrm>
            <a:custGeom>
              <a:avLst/>
              <a:gdLst/>
              <a:ahLst/>
              <a:cxnLst/>
              <a:rect r="r" b="b" t="t" l="l"/>
              <a:pathLst>
                <a:path h="485106" w="570713">
                  <a:moveTo>
                    <a:pt x="0" y="0"/>
                  </a:moveTo>
                  <a:lnTo>
                    <a:pt x="570713" y="0"/>
                  </a:lnTo>
                  <a:lnTo>
                    <a:pt x="570713" y="485106"/>
                  </a:lnTo>
                  <a:lnTo>
                    <a:pt x="0" y="4851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776549" y="6016293"/>
              <a:ext cx="8139978" cy="18745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83"/>
                </a:lnSpc>
              </a:pPr>
              <a:r>
                <a:rPr lang="en-US" sz="2059" strike="noStrike" u="none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Contact organizations using official contact information — not </a:t>
              </a:r>
              <a:r>
                <a:rPr lang="en-US" sz="2059" strike="noStrike" u="none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inform</a:t>
              </a:r>
              <a:r>
                <a:rPr lang="en-US" sz="2059" strike="noStrike" u="none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a</a:t>
              </a:r>
              <a:r>
                <a:rPr lang="en-US" sz="2059" strike="noStrike" u="none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tion p</a:t>
              </a:r>
              <a:r>
                <a:rPr lang="en-US" sz="2059" strike="noStrike" u="none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rovided i</a:t>
              </a:r>
              <a:r>
                <a:rPr lang="en-US" sz="2059" strike="noStrike" u="none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n a </a:t>
              </a:r>
              <a:r>
                <a:rPr lang="en-US" sz="2059" strike="noStrike" u="none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s</a:t>
              </a:r>
              <a:r>
                <a:rPr lang="en-US" sz="2059" strike="noStrike" u="none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usp</a:t>
              </a:r>
              <a:r>
                <a:rPr lang="en-US" sz="2059" strike="noStrike" u="none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i</a:t>
              </a:r>
              <a:r>
                <a:rPr lang="en-US" sz="2059" strike="noStrike" u="none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c</a:t>
              </a:r>
              <a:r>
                <a:rPr lang="en-US" sz="2059" strike="noStrike" u="none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i</a:t>
              </a:r>
              <a:r>
                <a:rPr lang="en-US" sz="2059" strike="noStrike" u="none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ous messa</a:t>
              </a:r>
              <a:r>
                <a:rPr lang="en-US" sz="2059" strike="noStrike" u="none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g</a:t>
              </a:r>
              <a:r>
                <a:rPr lang="en-US" sz="2059" strike="noStrike" u="none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e.</a:t>
              </a:r>
            </a:p>
            <a:p>
              <a:pPr algn="l">
                <a:lnSpc>
                  <a:spcPts val="2883"/>
                </a:lnSpc>
              </a:pPr>
            </a:p>
          </p:txBody>
        </p:sp>
        <p:sp>
          <p:nvSpPr>
            <p:cNvPr name="Freeform 31" id="31"/>
            <p:cNvSpPr/>
            <p:nvPr/>
          </p:nvSpPr>
          <p:spPr>
            <a:xfrm flipH="false" flipV="false" rot="0">
              <a:off x="0" y="7642167"/>
              <a:ext cx="570713" cy="485106"/>
            </a:xfrm>
            <a:custGeom>
              <a:avLst/>
              <a:gdLst/>
              <a:ahLst/>
              <a:cxnLst/>
              <a:rect r="r" b="b" t="t" l="l"/>
              <a:pathLst>
                <a:path h="485106" w="570713">
                  <a:moveTo>
                    <a:pt x="0" y="0"/>
                  </a:moveTo>
                  <a:lnTo>
                    <a:pt x="570713" y="0"/>
                  </a:lnTo>
                  <a:lnTo>
                    <a:pt x="570713" y="485106"/>
                  </a:lnTo>
                  <a:lnTo>
                    <a:pt x="0" y="4851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 rot="0">
              <a:off x="776549" y="7640348"/>
              <a:ext cx="8139978" cy="926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83"/>
                </a:lnSpc>
              </a:pPr>
              <a:r>
                <a:rPr lang="en-US" sz="2059" strike="noStrike" u="none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Report suspicious messages to your organization or the appropriate reporting service.</a:t>
              </a:r>
            </a:p>
          </p:txBody>
        </p:sp>
        <p:sp>
          <p:nvSpPr>
            <p:cNvPr name="Freeform 33" id="33"/>
            <p:cNvSpPr/>
            <p:nvPr/>
          </p:nvSpPr>
          <p:spPr>
            <a:xfrm flipH="false" flipV="false" rot="0">
              <a:off x="0" y="8845475"/>
              <a:ext cx="570713" cy="485106"/>
            </a:xfrm>
            <a:custGeom>
              <a:avLst/>
              <a:gdLst/>
              <a:ahLst/>
              <a:cxnLst/>
              <a:rect r="r" b="b" t="t" l="l"/>
              <a:pathLst>
                <a:path h="485106" w="570713">
                  <a:moveTo>
                    <a:pt x="0" y="0"/>
                  </a:moveTo>
                  <a:lnTo>
                    <a:pt x="570713" y="0"/>
                  </a:lnTo>
                  <a:lnTo>
                    <a:pt x="570713" y="485106"/>
                  </a:lnTo>
                  <a:lnTo>
                    <a:pt x="0" y="4851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34" id="34"/>
          <p:cNvSpPr/>
          <p:nvPr/>
        </p:nvSpPr>
        <p:spPr>
          <a:xfrm flipH="false" flipV="false" rot="0">
            <a:off x="3839515" y="5029898"/>
            <a:ext cx="3855831" cy="4406665"/>
          </a:xfrm>
          <a:custGeom>
            <a:avLst/>
            <a:gdLst/>
            <a:ahLst/>
            <a:cxnLst/>
            <a:rect r="r" b="b" t="t" l="l"/>
            <a:pathLst>
              <a:path h="4406665" w="3855831">
                <a:moveTo>
                  <a:pt x="0" y="0"/>
                </a:moveTo>
                <a:lnTo>
                  <a:pt x="3855832" y="0"/>
                </a:lnTo>
                <a:lnTo>
                  <a:pt x="3855832" y="4406664"/>
                </a:lnTo>
                <a:lnTo>
                  <a:pt x="0" y="440666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261267" y="824338"/>
            <a:ext cx="6828141" cy="3901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00"/>
              </a:lnSpc>
              <a:spcBef>
                <a:spcPct val="0"/>
              </a:spcBef>
            </a:pPr>
            <a:r>
              <a:rPr lang="en-US" b="true" sz="8506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B</a:t>
            </a:r>
            <a:r>
              <a:rPr lang="en-US" b="true" sz="8506" strike="noStrike" u="non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est </a:t>
            </a:r>
            <a:r>
              <a:rPr lang="en-US" b="true" sz="8506" strike="noStrike" u="non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Pr</a:t>
            </a:r>
            <a:r>
              <a:rPr lang="en-US" b="true" sz="8506" strike="noStrike" u="non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actic</a:t>
            </a:r>
            <a:r>
              <a:rPr lang="en-US" b="true" sz="8506" strike="noStrike" u="non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e</a:t>
            </a:r>
            <a:r>
              <a:rPr lang="en-US" b="true" sz="8506" strike="noStrike" u="non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s</a:t>
            </a:r>
            <a:r>
              <a:rPr lang="en-US" b="true" sz="8506" strike="noStrike" u="non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 to Avoid Phishing</a:t>
            </a:r>
          </a:p>
        </p:txBody>
      </p:sp>
      <p:sp>
        <p:nvSpPr>
          <p:cNvPr name="TextBox 36" id="36"/>
          <p:cNvSpPr txBox="true"/>
          <p:nvPr/>
        </p:nvSpPr>
        <p:spPr>
          <a:xfrm rot="-5400000">
            <a:off x="6335023" y="4972050"/>
            <a:ext cx="6188059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b="true" sz="2299">
                <a:solidFill>
                  <a:srgbClr val="191919"/>
                </a:solidFill>
                <a:latin typeface="Aileron Bold"/>
                <a:ea typeface="Aileron Bold"/>
                <a:cs typeface="Aileron Bold"/>
                <a:sym typeface="Aileron Bold"/>
              </a:rPr>
              <a:t>Think Bef</a:t>
            </a:r>
            <a:r>
              <a:rPr lang="en-US" b="true" sz="2299">
                <a:solidFill>
                  <a:srgbClr val="191919"/>
                </a:solidFill>
                <a:latin typeface="Aileron Bold"/>
                <a:ea typeface="Aileron Bold"/>
                <a:cs typeface="Aileron Bold"/>
                <a:sym typeface="Aileron Bold"/>
              </a:rPr>
              <a:t>ore You Click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-604995" y="4308181"/>
            <a:ext cx="1700989" cy="417515"/>
          </a:xfrm>
          <a:custGeom>
            <a:avLst/>
            <a:gdLst/>
            <a:ahLst/>
            <a:cxnLst/>
            <a:rect r="r" b="b" t="t" l="l"/>
            <a:pathLst>
              <a:path h="417515" w="1700989">
                <a:moveTo>
                  <a:pt x="0" y="0"/>
                </a:moveTo>
                <a:lnTo>
                  <a:pt x="1700989" y="0"/>
                </a:lnTo>
                <a:lnTo>
                  <a:pt x="1700989" y="417515"/>
                </a:lnTo>
                <a:lnTo>
                  <a:pt x="0" y="4175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941274" y="2036882"/>
            <a:ext cx="1700989" cy="417515"/>
          </a:xfrm>
          <a:custGeom>
            <a:avLst/>
            <a:gdLst/>
            <a:ahLst/>
            <a:cxnLst/>
            <a:rect r="r" b="b" t="t" l="l"/>
            <a:pathLst>
              <a:path h="417515" w="1700989">
                <a:moveTo>
                  <a:pt x="0" y="0"/>
                </a:moveTo>
                <a:lnTo>
                  <a:pt x="1700989" y="0"/>
                </a:lnTo>
                <a:lnTo>
                  <a:pt x="1700989" y="417515"/>
                </a:lnTo>
                <a:lnTo>
                  <a:pt x="0" y="4175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102316" y="8894882"/>
            <a:ext cx="1700989" cy="417515"/>
          </a:xfrm>
          <a:custGeom>
            <a:avLst/>
            <a:gdLst/>
            <a:ahLst/>
            <a:cxnLst/>
            <a:rect r="r" b="b" t="t" l="l"/>
            <a:pathLst>
              <a:path h="417515" w="1700989">
                <a:moveTo>
                  <a:pt x="0" y="0"/>
                </a:moveTo>
                <a:lnTo>
                  <a:pt x="1700989" y="0"/>
                </a:lnTo>
                <a:lnTo>
                  <a:pt x="1700989" y="417515"/>
                </a:lnTo>
                <a:lnTo>
                  <a:pt x="0" y="4175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62804" y="-2366165"/>
            <a:ext cx="14653207" cy="13920547"/>
          </a:xfrm>
          <a:custGeom>
            <a:avLst/>
            <a:gdLst/>
            <a:ahLst/>
            <a:cxnLst/>
            <a:rect r="r" b="b" t="t" l="l"/>
            <a:pathLst>
              <a:path h="13920547" w="14653207">
                <a:moveTo>
                  <a:pt x="0" y="0"/>
                </a:moveTo>
                <a:lnTo>
                  <a:pt x="14653208" y="0"/>
                </a:lnTo>
                <a:lnTo>
                  <a:pt x="14653208" y="13920547"/>
                </a:lnTo>
                <a:lnTo>
                  <a:pt x="0" y="139205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10800000">
            <a:off x="8856855" y="2448252"/>
            <a:ext cx="3493464" cy="5706751"/>
            <a:chOff x="0" y="0"/>
            <a:chExt cx="813733" cy="13292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3733" cy="1329274"/>
            </a:xfrm>
            <a:custGeom>
              <a:avLst/>
              <a:gdLst/>
              <a:ahLst/>
              <a:cxnLst/>
              <a:rect r="r" b="b" t="t" l="l"/>
              <a:pathLst>
                <a:path h="1329274" w="813733">
                  <a:moveTo>
                    <a:pt x="75348" y="0"/>
                  </a:moveTo>
                  <a:lnTo>
                    <a:pt x="738385" y="0"/>
                  </a:lnTo>
                  <a:cubicBezTo>
                    <a:pt x="758368" y="0"/>
                    <a:pt x="777533" y="7938"/>
                    <a:pt x="791664" y="22069"/>
                  </a:cubicBezTo>
                  <a:cubicBezTo>
                    <a:pt x="805794" y="36199"/>
                    <a:pt x="813733" y="55364"/>
                    <a:pt x="813733" y="75348"/>
                  </a:cubicBezTo>
                  <a:lnTo>
                    <a:pt x="813733" y="1253926"/>
                  </a:lnTo>
                  <a:cubicBezTo>
                    <a:pt x="813733" y="1273910"/>
                    <a:pt x="805794" y="1293075"/>
                    <a:pt x="791664" y="1307205"/>
                  </a:cubicBezTo>
                  <a:cubicBezTo>
                    <a:pt x="777533" y="1321336"/>
                    <a:pt x="758368" y="1329274"/>
                    <a:pt x="738385" y="1329274"/>
                  </a:cubicBezTo>
                  <a:lnTo>
                    <a:pt x="75348" y="1329274"/>
                  </a:lnTo>
                  <a:cubicBezTo>
                    <a:pt x="33734" y="1329274"/>
                    <a:pt x="0" y="1295540"/>
                    <a:pt x="0" y="1253926"/>
                  </a:cubicBezTo>
                  <a:lnTo>
                    <a:pt x="0" y="75348"/>
                  </a:lnTo>
                  <a:cubicBezTo>
                    <a:pt x="0" y="55364"/>
                    <a:pt x="7938" y="36199"/>
                    <a:pt x="22069" y="22069"/>
                  </a:cubicBezTo>
                  <a:cubicBezTo>
                    <a:pt x="36199" y="7938"/>
                    <a:pt x="55364" y="0"/>
                    <a:pt x="75348" y="0"/>
                  </a:cubicBezTo>
                  <a:close/>
                </a:path>
              </a:pathLst>
            </a:custGeom>
            <a:solidFill>
              <a:srgbClr val="A2ABD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3733" cy="1367374"/>
            </a:xfrm>
            <a:prstGeom prst="rect">
              <a:avLst/>
            </a:prstGeom>
          </p:spPr>
          <p:txBody>
            <a:bodyPr anchor="ctr" rtlCol="false" tIns="57440" lIns="57440" bIns="57440" rIns="5744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5400000">
            <a:off x="5891147" y="4879738"/>
            <a:ext cx="7913346" cy="843779"/>
          </a:xfrm>
          <a:custGeom>
            <a:avLst/>
            <a:gdLst/>
            <a:ahLst/>
            <a:cxnLst/>
            <a:rect r="r" b="b" t="t" l="l"/>
            <a:pathLst>
              <a:path h="843779" w="7913346">
                <a:moveTo>
                  <a:pt x="0" y="0"/>
                </a:moveTo>
                <a:lnTo>
                  <a:pt x="7913346" y="0"/>
                </a:lnTo>
                <a:lnTo>
                  <a:pt x="7913346" y="843779"/>
                </a:lnTo>
                <a:lnTo>
                  <a:pt x="0" y="8437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678" t="-11032" r="-1678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-5400000">
            <a:off x="6335023" y="4972050"/>
            <a:ext cx="6188059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b="true" sz="2299">
                <a:solidFill>
                  <a:srgbClr val="191919"/>
                </a:solidFill>
                <a:latin typeface="Aileron Bold"/>
                <a:ea typeface="Aileron Bold"/>
                <a:cs typeface="Aileron Bold"/>
                <a:sym typeface="Aileron Bold"/>
              </a:rPr>
              <a:t>If you clicked a</a:t>
            </a:r>
            <a:r>
              <a:rPr lang="en-US" b="true" sz="2299">
                <a:solidFill>
                  <a:srgbClr val="191919"/>
                </a:solidFill>
                <a:latin typeface="Aileron Bold"/>
                <a:ea typeface="Aileron Bold"/>
                <a:cs typeface="Aileron Bold"/>
                <a:sym typeface="Aileron Bold"/>
              </a:rPr>
              <a:t> suspicious link:</a:t>
            </a:r>
          </a:p>
        </p:txBody>
      </p:sp>
      <p:grpSp>
        <p:nvGrpSpPr>
          <p:cNvPr name="Group 10" id="10"/>
          <p:cNvGrpSpPr/>
          <p:nvPr/>
        </p:nvGrpSpPr>
        <p:grpSpPr>
          <a:xfrm rot="-10800000">
            <a:off x="9842524" y="1344954"/>
            <a:ext cx="7416776" cy="7913346"/>
            <a:chOff x="0" y="0"/>
            <a:chExt cx="1727590" cy="18432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27590" cy="1843256"/>
            </a:xfrm>
            <a:custGeom>
              <a:avLst/>
              <a:gdLst/>
              <a:ahLst/>
              <a:cxnLst/>
              <a:rect r="r" b="b" t="t" l="l"/>
              <a:pathLst>
                <a:path h="1843256" w="1727590">
                  <a:moveTo>
                    <a:pt x="35491" y="0"/>
                  </a:moveTo>
                  <a:lnTo>
                    <a:pt x="1692100" y="0"/>
                  </a:lnTo>
                  <a:cubicBezTo>
                    <a:pt x="1701512" y="0"/>
                    <a:pt x="1710540" y="3739"/>
                    <a:pt x="1717195" y="10395"/>
                  </a:cubicBezTo>
                  <a:cubicBezTo>
                    <a:pt x="1723851" y="17051"/>
                    <a:pt x="1727590" y="26078"/>
                    <a:pt x="1727590" y="35491"/>
                  </a:cubicBezTo>
                  <a:lnTo>
                    <a:pt x="1727590" y="1807766"/>
                  </a:lnTo>
                  <a:cubicBezTo>
                    <a:pt x="1727590" y="1817178"/>
                    <a:pt x="1723851" y="1826206"/>
                    <a:pt x="1717195" y="1832861"/>
                  </a:cubicBezTo>
                  <a:cubicBezTo>
                    <a:pt x="1710540" y="1839517"/>
                    <a:pt x="1701512" y="1843256"/>
                    <a:pt x="1692100" y="1843256"/>
                  </a:cubicBezTo>
                  <a:lnTo>
                    <a:pt x="35491" y="1843256"/>
                  </a:lnTo>
                  <a:cubicBezTo>
                    <a:pt x="26078" y="1843256"/>
                    <a:pt x="17051" y="1839517"/>
                    <a:pt x="10395" y="1832861"/>
                  </a:cubicBezTo>
                  <a:cubicBezTo>
                    <a:pt x="3739" y="1826206"/>
                    <a:pt x="0" y="1817178"/>
                    <a:pt x="0" y="1807766"/>
                  </a:cubicBezTo>
                  <a:lnTo>
                    <a:pt x="0" y="35491"/>
                  </a:lnTo>
                  <a:cubicBezTo>
                    <a:pt x="0" y="26078"/>
                    <a:pt x="3739" y="17051"/>
                    <a:pt x="10395" y="10395"/>
                  </a:cubicBezTo>
                  <a:cubicBezTo>
                    <a:pt x="17051" y="3739"/>
                    <a:pt x="26078" y="0"/>
                    <a:pt x="3549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727590" cy="1881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207214" y="2036882"/>
            <a:ext cx="428035" cy="363830"/>
          </a:xfrm>
          <a:custGeom>
            <a:avLst/>
            <a:gdLst/>
            <a:ahLst/>
            <a:cxnLst/>
            <a:rect r="r" b="b" t="t" l="l"/>
            <a:pathLst>
              <a:path h="363830" w="428035">
                <a:moveTo>
                  <a:pt x="0" y="0"/>
                </a:moveTo>
                <a:lnTo>
                  <a:pt x="428035" y="0"/>
                </a:lnTo>
                <a:lnTo>
                  <a:pt x="428035" y="363829"/>
                </a:lnTo>
                <a:lnTo>
                  <a:pt x="0" y="3638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207214" y="2638810"/>
            <a:ext cx="428035" cy="363830"/>
          </a:xfrm>
          <a:custGeom>
            <a:avLst/>
            <a:gdLst/>
            <a:ahLst/>
            <a:cxnLst/>
            <a:rect r="r" b="b" t="t" l="l"/>
            <a:pathLst>
              <a:path h="363830" w="428035">
                <a:moveTo>
                  <a:pt x="0" y="0"/>
                </a:moveTo>
                <a:lnTo>
                  <a:pt x="428035" y="0"/>
                </a:lnTo>
                <a:lnTo>
                  <a:pt x="428035" y="363829"/>
                </a:lnTo>
                <a:lnTo>
                  <a:pt x="0" y="3638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207214" y="3237839"/>
            <a:ext cx="428035" cy="363830"/>
          </a:xfrm>
          <a:custGeom>
            <a:avLst/>
            <a:gdLst/>
            <a:ahLst/>
            <a:cxnLst/>
            <a:rect r="r" b="b" t="t" l="l"/>
            <a:pathLst>
              <a:path h="363830" w="428035">
                <a:moveTo>
                  <a:pt x="0" y="0"/>
                </a:moveTo>
                <a:lnTo>
                  <a:pt x="428035" y="0"/>
                </a:lnTo>
                <a:lnTo>
                  <a:pt x="428035" y="363829"/>
                </a:lnTo>
                <a:lnTo>
                  <a:pt x="0" y="3638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207214" y="4094564"/>
            <a:ext cx="428035" cy="363830"/>
          </a:xfrm>
          <a:custGeom>
            <a:avLst/>
            <a:gdLst/>
            <a:ahLst/>
            <a:cxnLst/>
            <a:rect r="r" b="b" t="t" l="l"/>
            <a:pathLst>
              <a:path h="363830" w="428035">
                <a:moveTo>
                  <a:pt x="0" y="0"/>
                </a:moveTo>
                <a:lnTo>
                  <a:pt x="428035" y="0"/>
                </a:lnTo>
                <a:lnTo>
                  <a:pt x="428035" y="363829"/>
                </a:lnTo>
                <a:lnTo>
                  <a:pt x="0" y="3638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207214" y="4839367"/>
            <a:ext cx="428035" cy="363830"/>
          </a:xfrm>
          <a:custGeom>
            <a:avLst/>
            <a:gdLst/>
            <a:ahLst/>
            <a:cxnLst/>
            <a:rect r="r" b="b" t="t" l="l"/>
            <a:pathLst>
              <a:path h="363830" w="428035">
                <a:moveTo>
                  <a:pt x="0" y="0"/>
                </a:moveTo>
                <a:lnTo>
                  <a:pt x="428035" y="0"/>
                </a:lnTo>
                <a:lnTo>
                  <a:pt x="428035" y="363829"/>
                </a:lnTo>
                <a:lnTo>
                  <a:pt x="0" y="3638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207214" y="5438396"/>
            <a:ext cx="428035" cy="363830"/>
          </a:xfrm>
          <a:custGeom>
            <a:avLst/>
            <a:gdLst/>
            <a:ahLst/>
            <a:cxnLst/>
            <a:rect r="r" b="b" t="t" l="l"/>
            <a:pathLst>
              <a:path h="363830" w="428035">
                <a:moveTo>
                  <a:pt x="0" y="0"/>
                </a:moveTo>
                <a:lnTo>
                  <a:pt x="428035" y="0"/>
                </a:lnTo>
                <a:lnTo>
                  <a:pt x="428035" y="363829"/>
                </a:lnTo>
                <a:lnTo>
                  <a:pt x="0" y="3638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207214" y="6231745"/>
            <a:ext cx="428035" cy="363830"/>
          </a:xfrm>
          <a:custGeom>
            <a:avLst/>
            <a:gdLst/>
            <a:ahLst/>
            <a:cxnLst/>
            <a:rect r="r" b="b" t="t" l="l"/>
            <a:pathLst>
              <a:path h="363830" w="428035">
                <a:moveTo>
                  <a:pt x="0" y="0"/>
                </a:moveTo>
                <a:lnTo>
                  <a:pt x="428035" y="0"/>
                </a:lnTo>
                <a:lnTo>
                  <a:pt x="428035" y="363830"/>
                </a:lnTo>
                <a:lnTo>
                  <a:pt x="0" y="3638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207214" y="7168604"/>
            <a:ext cx="428035" cy="363830"/>
          </a:xfrm>
          <a:custGeom>
            <a:avLst/>
            <a:gdLst/>
            <a:ahLst/>
            <a:cxnLst/>
            <a:rect r="r" b="b" t="t" l="l"/>
            <a:pathLst>
              <a:path h="363830" w="428035">
                <a:moveTo>
                  <a:pt x="0" y="0"/>
                </a:moveTo>
                <a:lnTo>
                  <a:pt x="428035" y="0"/>
                </a:lnTo>
                <a:lnTo>
                  <a:pt x="428035" y="363829"/>
                </a:lnTo>
                <a:lnTo>
                  <a:pt x="0" y="3638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-604995" y="4308181"/>
            <a:ext cx="1700989" cy="417515"/>
          </a:xfrm>
          <a:custGeom>
            <a:avLst/>
            <a:gdLst/>
            <a:ahLst/>
            <a:cxnLst/>
            <a:rect r="r" b="b" t="t" l="l"/>
            <a:pathLst>
              <a:path h="417515" w="1700989">
                <a:moveTo>
                  <a:pt x="0" y="0"/>
                </a:moveTo>
                <a:lnTo>
                  <a:pt x="1700989" y="0"/>
                </a:lnTo>
                <a:lnTo>
                  <a:pt x="1700989" y="417515"/>
                </a:lnTo>
                <a:lnTo>
                  <a:pt x="0" y="4175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731703">
            <a:off x="3616666" y="5248703"/>
            <a:ext cx="4696795" cy="4203631"/>
          </a:xfrm>
          <a:custGeom>
            <a:avLst/>
            <a:gdLst/>
            <a:ahLst/>
            <a:cxnLst/>
            <a:rect r="r" b="b" t="t" l="l"/>
            <a:pathLst>
              <a:path h="4203631" w="4696795">
                <a:moveTo>
                  <a:pt x="0" y="0"/>
                </a:moveTo>
                <a:lnTo>
                  <a:pt x="4696794" y="0"/>
                </a:lnTo>
                <a:lnTo>
                  <a:pt x="4696794" y="4203631"/>
                </a:lnTo>
                <a:lnTo>
                  <a:pt x="0" y="42036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789626" y="2019515"/>
            <a:ext cx="6104983" cy="356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3"/>
              </a:lnSpc>
            </a:pPr>
            <a:r>
              <a:rPr lang="en-US" sz="205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</a:t>
            </a:r>
            <a:r>
              <a:rPr lang="en-US" sz="205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top interacting w</a:t>
            </a:r>
            <a:r>
              <a:rPr lang="en-US" sz="205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ith the website.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789626" y="2651701"/>
            <a:ext cx="6104983" cy="350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3"/>
              </a:lnSpc>
            </a:pPr>
            <a:r>
              <a:rPr lang="en-US" sz="205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Do</a:t>
            </a:r>
            <a:r>
              <a:rPr lang="en-US" sz="205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not enter any additional inform</a:t>
            </a:r>
            <a:r>
              <a:rPr lang="en-US" sz="205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ation</a:t>
            </a:r>
            <a:r>
              <a:rPr lang="en-US" sz="205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789626" y="3190214"/>
            <a:ext cx="6104983" cy="706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3"/>
              </a:lnSpc>
            </a:pPr>
            <a:r>
              <a:rPr lang="en-US" sz="205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If y</a:t>
            </a:r>
            <a:r>
              <a:rPr lang="en-US" sz="205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o</a:t>
            </a:r>
            <a:r>
              <a:rPr lang="en-US" sz="205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u</a:t>
            </a:r>
            <a:r>
              <a:rPr lang="en-US" sz="205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5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e</a:t>
            </a:r>
            <a:r>
              <a:rPr lang="en-US" sz="205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nt</a:t>
            </a:r>
            <a:r>
              <a:rPr lang="en-US" sz="205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ered a</a:t>
            </a:r>
            <a:r>
              <a:rPr lang="en-US" sz="205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p</a:t>
            </a:r>
            <a:r>
              <a:rPr lang="en-US" sz="205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assword,</a:t>
            </a:r>
            <a:r>
              <a:rPr lang="en-US" sz="205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5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cha</a:t>
            </a:r>
            <a:r>
              <a:rPr lang="en-US" sz="205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nge</a:t>
            </a:r>
            <a:r>
              <a:rPr lang="en-US" sz="205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i</a:t>
            </a:r>
            <a:r>
              <a:rPr lang="en-US" sz="205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</a:t>
            </a:r>
            <a:r>
              <a:rPr lang="en-US" sz="205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imm</a:t>
            </a:r>
            <a:r>
              <a:rPr lang="en-US" sz="205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ed</a:t>
            </a:r>
            <a:r>
              <a:rPr lang="en-US" sz="205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i</a:t>
            </a:r>
            <a:r>
              <a:rPr lang="en-US" sz="205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at</a:t>
            </a:r>
            <a:r>
              <a:rPr lang="en-US" sz="205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ely from </a:t>
            </a:r>
            <a:r>
              <a:rPr lang="en-US" sz="205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the legit</a:t>
            </a:r>
            <a:r>
              <a:rPr lang="en-US" sz="205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imate web</a:t>
            </a:r>
            <a:r>
              <a:rPr lang="en-US" sz="205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site.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789626" y="4030139"/>
            <a:ext cx="6104983" cy="350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3"/>
              </a:lnSpc>
            </a:pPr>
            <a:r>
              <a:rPr lang="en-US" sz="205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E</a:t>
            </a:r>
            <a:r>
              <a:rPr lang="en-US" sz="205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nable or review MFA on the affected account.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789626" y="4822000"/>
            <a:ext cx="6104983" cy="350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3"/>
              </a:lnSpc>
            </a:pPr>
            <a:r>
              <a:rPr lang="en-US" sz="205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If</a:t>
            </a:r>
            <a:r>
              <a:rPr lang="en-US" sz="205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you downloaded a file, run a security scan.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789626" y="5390771"/>
            <a:ext cx="6104983" cy="706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3"/>
              </a:lnSpc>
            </a:pPr>
            <a:r>
              <a:rPr lang="en-US" sz="205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R</a:t>
            </a:r>
            <a:r>
              <a:rPr lang="en-US" sz="205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eport the incident to your organization's IT/security team.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789626" y="6214379"/>
            <a:ext cx="6104983" cy="706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3"/>
              </a:lnSpc>
            </a:pPr>
            <a:r>
              <a:rPr lang="en-US" sz="205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If</a:t>
            </a:r>
            <a:r>
              <a:rPr lang="en-US" sz="205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financial information was exposed, contact the financial institution through an official channel.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789626" y="7132720"/>
            <a:ext cx="6104983" cy="706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3"/>
              </a:lnSpc>
            </a:pPr>
            <a:r>
              <a:rPr lang="en-US" sz="205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Rep</a:t>
            </a:r>
            <a:r>
              <a:rPr lang="en-US" sz="205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ort the phishing attempt through the appro</a:t>
            </a:r>
            <a:r>
              <a:rPr lang="en-US" sz="205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</a:t>
            </a:r>
            <a:r>
              <a:rPr lang="en-US" sz="205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r</a:t>
            </a:r>
            <a:r>
              <a:rPr lang="en-US" sz="205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i</a:t>
            </a:r>
            <a:r>
              <a:rPr lang="en-US" sz="205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at</a:t>
            </a:r>
            <a:r>
              <a:rPr lang="en-US" sz="205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e</a:t>
            </a:r>
            <a:r>
              <a:rPr lang="en-US" sz="205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5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re</a:t>
            </a:r>
            <a:r>
              <a:rPr lang="en-US" sz="205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</a:t>
            </a:r>
            <a:r>
              <a:rPr lang="en-US" sz="205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o</a:t>
            </a:r>
            <a:r>
              <a:rPr lang="en-US" sz="205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rtin</a:t>
            </a:r>
            <a:r>
              <a:rPr lang="en-US" sz="205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g</a:t>
            </a:r>
            <a:r>
              <a:rPr lang="en-US" sz="2059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service.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61267" y="748138"/>
            <a:ext cx="6828141" cy="4334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50"/>
              </a:lnSpc>
            </a:pPr>
            <a:r>
              <a:rPr lang="en-US" b="true" sz="8506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Wh</a:t>
            </a:r>
            <a:r>
              <a:rPr lang="en-US" b="true" sz="8506" strike="noStrike" u="non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at </a:t>
            </a:r>
            <a:r>
              <a:rPr lang="en-US" b="true" sz="8506" strike="noStrike" u="non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Sh</a:t>
            </a:r>
            <a:r>
              <a:rPr lang="en-US" b="true" sz="8506" strike="noStrike" u="non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o</a:t>
            </a:r>
            <a:r>
              <a:rPr lang="en-US" b="true" sz="8506" strike="noStrike" u="non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uld</a:t>
            </a:r>
            <a:r>
              <a:rPr lang="en-US" b="true" sz="8506" strike="noStrike" u="non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8506" strike="noStrike" u="non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Y</a:t>
            </a:r>
            <a:r>
              <a:rPr lang="en-US" b="true" sz="8506" strike="noStrike" u="non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o</a:t>
            </a:r>
            <a:r>
              <a:rPr lang="en-US" b="true" sz="8506" strike="noStrike" u="non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u</a:t>
            </a:r>
            <a:r>
              <a:rPr lang="en-US" b="true" sz="8506" strike="noStrike" u="non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8506" strike="noStrike" u="non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Do If You Cl</a:t>
            </a:r>
            <a:r>
              <a:rPr lang="en-US" b="true" sz="8506" strike="noStrike" u="non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i</a:t>
            </a:r>
            <a:r>
              <a:rPr lang="en-US" b="true" sz="8506" strike="noStrike" u="non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cked?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-263850" y="5163413"/>
            <a:ext cx="697904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48"/>
              </a:lnSpc>
              <a:spcBef>
                <a:spcPct val="0"/>
              </a:spcBef>
            </a:pPr>
            <a:r>
              <a:rPr lang="en-US" sz="2040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D</a:t>
            </a:r>
            <a:r>
              <a:rPr lang="en-US" sz="2040" strike="noStrike" u="none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on't panic. Act quickly.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8097029" y="8592876"/>
            <a:ext cx="7694740" cy="1308106"/>
          </a:xfrm>
          <a:custGeom>
            <a:avLst/>
            <a:gdLst/>
            <a:ahLst/>
            <a:cxnLst/>
            <a:rect r="r" b="b" t="t" l="l"/>
            <a:pathLst>
              <a:path h="1308106" w="7694740">
                <a:moveTo>
                  <a:pt x="0" y="0"/>
                </a:moveTo>
                <a:lnTo>
                  <a:pt x="7694740" y="0"/>
                </a:lnTo>
                <a:lnTo>
                  <a:pt x="7694740" y="1308106"/>
                </a:lnTo>
                <a:lnTo>
                  <a:pt x="0" y="130810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8436972" y="8998072"/>
            <a:ext cx="697904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48"/>
              </a:lnSpc>
              <a:spcBef>
                <a:spcPct val="0"/>
              </a:spcBef>
            </a:pPr>
            <a:r>
              <a:rPr lang="en-US" sz="2040">
                <a:solidFill>
                  <a:srgbClr val="191919"/>
                </a:solidFill>
                <a:latin typeface="Garet"/>
                <a:ea typeface="Garet"/>
                <a:cs typeface="Garet"/>
                <a:sym typeface="Garet"/>
              </a:rPr>
              <a:t>The faster you resp</a:t>
            </a:r>
            <a:r>
              <a:rPr lang="en-US" sz="2040" strike="noStrike" u="none">
                <a:solidFill>
                  <a:srgbClr val="191919"/>
                </a:solidFill>
                <a:latin typeface="Garet"/>
                <a:ea typeface="Garet"/>
                <a:cs typeface="Garet"/>
                <a:sym typeface="Garet"/>
              </a:rPr>
              <a:t>ond, the more opportunities you have to reduce the impact.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4741" y="-2290430"/>
            <a:ext cx="14653207" cy="13920547"/>
          </a:xfrm>
          <a:custGeom>
            <a:avLst/>
            <a:gdLst/>
            <a:ahLst/>
            <a:cxnLst/>
            <a:rect r="r" b="b" t="t" l="l"/>
            <a:pathLst>
              <a:path h="13920547" w="14653207">
                <a:moveTo>
                  <a:pt x="0" y="0"/>
                </a:moveTo>
                <a:lnTo>
                  <a:pt x="14653207" y="0"/>
                </a:lnTo>
                <a:lnTo>
                  <a:pt x="14653207" y="13920547"/>
                </a:lnTo>
                <a:lnTo>
                  <a:pt x="0" y="139205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147977">
            <a:off x="-87690" y="1434443"/>
            <a:ext cx="1700989" cy="417515"/>
          </a:xfrm>
          <a:custGeom>
            <a:avLst/>
            <a:gdLst/>
            <a:ahLst/>
            <a:cxnLst/>
            <a:rect r="r" b="b" t="t" l="l"/>
            <a:pathLst>
              <a:path h="417515" w="1700989">
                <a:moveTo>
                  <a:pt x="0" y="0"/>
                </a:moveTo>
                <a:lnTo>
                  <a:pt x="1700989" y="0"/>
                </a:lnTo>
                <a:lnTo>
                  <a:pt x="1700989" y="417515"/>
                </a:lnTo>
                <a:lnTo>
                  <a:pt x="0" y="4175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147977">
            <a:off x="16749678" y="5458351"/>
            <a:ext cx="1700989" cy="417515"/>
          </a:xfrm>
          <a:custGeom>
            <a:avLst/>
            <a:gdLst/>
            <a:ahLst/>
            <a:cxnLst/>
            <a:rect r="r" b="b" t="t" l="l"/>
            <a:pathLst>
              <a:path h="417515" w="1700989">
                <a:moveTo>
                  <a:pt x="0" y="0"/>
                </a:moveTo>
                <a:lnTo>
                  <a:pt x="1700989" y="0"/>
                </a:lnTo>
                <a:lnTo>
                  <a:pt x="1700989" y="417516"/>
                </a:lnTo>
                <a:lnTo>
                  <a:pt x="0" y="4175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838392" y="3467577"/>
            <a:ext cx="5662471" cy="5351035"/>
          </a:xfrm>
          <a:custGeom>
            <a:avLst/>
            <a:gdLst/>
            <a:ahLst/>
            <a:cxnLst/>
            <a:rect r="r" b="b" t="t" l="l"/>
            <a:pathLst>
              <a:path h="5351035" w="5662471">
                <a:moveTo>
                  <a:pt x="0" y="0"/>
                </a:moveTo>
                <a:lnTo>
                  <a:pt x="5662471" y="0"/>
                </a:lnTo>
                <a:lnTo>
                  <a:pt x="5662471" y="5351035"/>
                </a:lnTo>
                <a:lnTo>
                  <a:pt x="0" y="53510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055179" y="1656186"/>
            <a:ext cx="9812331" cy="1106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00"/>
              </a:lnSpc>
              <a:spcBef>
                <a:spcPct val="0"/>
              </a:spcBef>
            </a:pPr>
            <a:r>
              <a:rPr lang="en-US" b="true" sz="8506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In</a:t>
            </a:r>
            <a:r>
              <a:rPr lang="en-US" b="true" sz="8506" strike="noStrike" u="non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ter</a:t>
            </a:r>
            <a:r>
              <a:rPr lang="en-US" b="true" sz="8506" strike="noStrike" u="non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a</a:t>
            </a:r>
            <a:r>
              <a:rPr lang="en-US" b="true" sz="8506" strike="noStrike" u="non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c</a:t>
            </a:r>
            <a:r>
              <a:rPr lang="en-US" b="true" sz="8506" strike="noStrike" u="non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tive Q</a:t>
            </a:r>
            <a:r>
              <a:rPr lang="en-US" b="true" sz="8506" strike="noStrike" u="non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ui</a:t>
            </a:r>
            <a:r>
              <a:rPr lang="en-US" b="true" sz="8506" strike="noStrike" u="non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z: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4741" y="-2290430"/>
            <a:ext cx="14653207" cy="13920547"/>
          </a:xfrm>
          <a:custGeom>
            <a:avLst/>
            <a:gdLst/>
            <a:ahLst/>
            <a:cxnLst/>
            <a:rect r="r" b="b" t="t" l="l"/>
            <a:pathLst>
              <a:path h="13920547" w="14653207">
                <a:moveTo>
                  <a:pt x="0" y="0"/>
                </a:moveTo>
                <a:lnTo>
                  <a:pt x="14653207" y="0"/>
                </a:lnTo>
                <a:lnTo>
                  <a:pt x="14653207" y="13920547"/>
                </a:lnTo>
                <a:lnTo>
                  <a:pt x="0" y="139205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147977">
            <a:off x="-87690" y="1434443"/>
            <a:ext cx="1700989" cy="417515"/>
          </a:xfrm>
          <a:custGeom>
            <a:avLst/>
            <a:gdLst/>
            <a:ahLst/>
            <a:cxnLst/>
            <a:rect r="r" b="b" t="t" l="l"/>
            <a:pathLst>
              <a:path h="417515" w="1700989">
                <a:moveTo>
                  <a:pt x="0" y="0"/>
                </a:moveTo>
                <a:lnTo>
                  <a:pt x="1700989" y="0"/>
                </a:lnTo>
                <a:lnTo>
                  <a:pt x="1700989" y="417515"/>
                </a:lnTo>
                <a:lnTo>
                  <a:pt x="0" y="4175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147977">
            <a:off x="16749678" y="5458351"/>
            <a:ext cx="1700989" cy="417515"/>
          </a:xfrm>
          <a:custGeom>
            <a:avLst/>
            <a:gdLst/>
            <a:ahLst/>
            <a:cxnLst/>
            <a:rect r="r" b="b" t="t" l="l"/>
            <a:pathLst>
              <a:path h="417515" w="1700989">
                <a:moveTo>
                  <a:pt x="0" y="0"/>
                </a:moveTo>
                <a:lnTo>
                  <a:pt x="1700989" y="0"/>
                </a:lnTo>
                <a:lnTo>
                  <a:pt x="1700989" y="417516"/>
                </a:lnTo>
                <a:lnTo>
                  <a:pt x="0" y="4175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294184" y="3199127"/>
            <a:ext cx="7205787" cy="4935964"/>
            <a:chOff x="0" y="0"/>
            <a:chExt cx="9607716" cy="65812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607716" cy="6581286"/>
            </a:xfrm>
            <a:custGeom>
              <a:avLst/>
              <a:gdLst/>
              <a:ahLst/>
              <a:cxnLst/>
              <a:rect r="r" b="b" t="t" l="l"/>
              <a:pathLst>
                <a:path h="6581286" w="9607716">
                  <a:moveTo>
                    <a:pt x="0" y="0"/>
                  </a:moveTo>
                  <a:lnTo>
                    <a:pt x="9607716" y="0"/>
                  </a:lnTo>
                  <a:lnTo>
                    <a:pt x="9607716" y="6581286"/>
                  </a:lnTo>
                  <a:lnTo>
                    <a:pt x="0" y="65812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-5400000">
              <a:off x="435554" y="654976"/>
              <a:ext cx="293430" cy="553641"/>
            </a:xfrm>
            <a:custGeom>
              <a:avLst/>
              <a:gdLst/>
              <a:ahLst/>
              <a:cxnLst/>
              <a:rect r="r" b="b" t="t" l="l"/>
              <a:pathLst>
                <a:path h="553641" w="293430">
                  <a:moveTo>
                    <a:pt x="0" y="0"/>
                  </a:moveTo>
                  <a:lnTo>
                    <a:pt x="293430" y="0"/>
                  </a:lnTo>
                  <a:lnTo>
                    <a:pt x="293430" y="553641"/>
                  </a:lnTo>
                  <a:lnTo>
                    <a:pt x="0" y="5536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582269" y="2260245"/>
              <a:ext cx="7210908" cy="22044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97"/>
                </a:lnSpc>
              </a:pPr>
              <a:r>
                <a:rPr lang="en-US" sz="1580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D</a:t>
              </a:r>
              <a:r>
                <a:rPr lang="en-US" sz="1580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ear Customer,</a:t>
              </a:r>
            </a:p>
            <a:p>
              <a:pPr algn="l" marL="0" indent="0" lvl="0">
                <a:lnSpc>
                  <a:spcPts val="1897"/>
                </a:lnSpc>
                <a:spcBef>
                  <a:spcPct val="0"/>
                </a:spcBef>
              </a:pPr>
              <a:r>
                <a:rPr lang="en-US" sz="1580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We detected suspicious activity </a:t>
              </a:r>
              <a:r>
                <a:rPr lang="en-US" sz="1580" strike="noStrike" u="none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on your account.</a:t>
              </a:r>
            </a:p>
            <a:p>
              <a:pPr algn="l" marL="0" indent="0" lvl="0">
                <a:lnSpc>
                  <a:spcPts val="1897"/>
                </a:lnSpc>
                <a:spcBef>
                  <a:spcPct val="0"/>
                </a:spcBef>
              </a:pPr>
              <a:r>
                <a:rPr lang="en-US" sz="1580" strike="noStrike" u="none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 Your account will be permanently suspended within 30 minutes.</a:t>
              </a:r>
            </a:p>
            <a:p>
              <a:pPr algn="l" marL="0" indent="0" lvl="0">
                <a:lnSpc>
                  <a:spcPts val="1897"/>
                </a:lnSpc>
                <a:spcBef>
                  <a:spcPct val="0"/>
                </a:spcBef>
              </a:pPr>
              <a:r>
                <a:rPr lang="en-US" sz="1580" strike="noStrike" u="none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Click the link below to verify your account immediately.</a:t>
              </a:r>
            </a:p>
            <a:p>
              <a:pPr algn="l" marL="0" indent="0" lvl="0">
                <a:lnSpc>
                  <a:spcPts val="1897"/>
                </a:lnSpc>
                <a:spcBef>
                  <a:spcPct val="0"/>
                </a:spcBef>
              </a:pPr>
              <a:r>
                <a:rPr lang="en-US" sz="1580" strike="noStrike" u="none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[Verify My Account]</a:t>
              </a:r>
            </a:p>
            <a:p>
              <a:pPr algn="l" marL="0" indent="0" lvl="0">
                <a:lnSpc>
                  <a:spcPts val="1897"/>
                </a:lnSpc>
                <a:spcBef>
                  <a:spcPct val="0"/>
                </a:spcBef>
              </a:pP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198404" y="1271514"/>
              <a:ext cx="7210908" cy="3149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897"/>
                </a:lnSpc>
                <a:spcBef>
                  <a:spcPct val="0"/>
                </a:spcBef>
              </a:pPr>
              <a:r>
                <a:rPr lang="en-US" sz="1580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URGENT:</a:t>
              </a:r>
              <a:r>
                <a:rPr lang="en-US" sz="1580" strike="noStrike" u="none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 Your account will be suspended!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344421" y="785082"/>
              <a:ext cx="7210908" cy="3149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897"/>
                </a:lnSpc>
                <a:spcBef>
                  <a:spcPct val="0"/>
                </a:spcBef>
              </a:pPr>
              <a:r>
                <a:rPr lang="en-US" sz="1580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From:</a:t>
              </a:r>
              <a:r>
                <a:rPr lang="en-US" sz="1580" strike="noStrike" u="none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 </a:t>
              </a:r>
              <a:r>
                <a:rPr lang="en-US" sz="1580" strike="noStrike" u="sng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  <a:hlinkClick r:id="rId10" tooltip="mailto:support@paypa1-security.com"/>
                </a:rPr>
                <a:t>support@paypa1-security.com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1303742" y="1928346"/>
            <a:ext cx="5180051" cy="2900829"/>
          </a:xfrm>
          <a:custGeom>
            <a:avLst/>
            <a:gdLst/>
            <a:ahLst/>
            <a:cxnLst/>
            <a:rect r="r" b="b" t="t" l="l"/>
            <a:pathLst>
              <a:path h="2900829" w="5180051">
                <a:moveTo>
                  <a:pt x="0" y="0"/>
                </a:moveTo>
                <a:lnTo>
                  <a:pt x="5180050" y="0"/>
                </a:lnTo>
                <a:lnTo>
                  <a:pt x="5180050" y="2900829"/>
                </a:lnTo>
                <a:lnTo>
                  <a:pt x="0" y="290082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659712" y="1012212"/>
            <a:ext cx="4024481" cy="1106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00"/>
              </a:lnSpc>
              <a:spcBef>
                <a:spcPct val="0"/>
              </a:spcBef>
            </a:pPr>
            <a:r>
              <a:rPr lang="en-US" b="true" sz="8506" strike="noStrike" u="non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Q</a:t>
            </a:r>
            <a:r>
              <a:rPr lang="en-US" b="true" sz="8506" strike="noStrike" u="non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ui</a:t>
            </a:r>
            <a:r>
              <a:rPr lang="en-US" b="true" sz="8506" strike="noStrike" u="non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z 1 :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728784" y="5143500"/>
            <a:ext cx="7326604" cy="741399"/>
            <a:chOff x="0" y="0"/>
            <a:chExt cx="9768805" cy="988532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6388449" cy="988532"/>
              <a:chOff x="0" y="0"/>
              <a:chExt cx="1261916" cy="195266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261916" cy="195266"/>
              </a:xfrm>
              <a:custGeom>
                <a:avLst/>
                <a:gdLst/>
                <a:ahLst/>
                <a:cxnLst/>
                <a:rect r="r" b="b" t="t" l="l"/>
                <a:pathLst>
                  <a:path h="195266" w="1261916">
                    <a:moveTo>
                      <a:pt x="0" y="0"/>
                    </a:moveTo>
                    <a:lnTo>
                      <a:pt x="1261916" y="0"/>
                    </a:lnTo>
                    <a:lnTo>
                      <a:pt x="1261916" y="195266"/>
                    </a:lnTo>
                    <a:lnTo>
                      <a:pt x="0" y="195266"/>
                    </a:lnTo>
                    <a:close/>
                  </a:path>
                </a:pathLst>
              </a:custGeom>
              <a:solidFill>
                <a:srgbClr val="F4F4F4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57150"/>
                <a:ext cx="1261916" cy="2524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72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463418" y="282221"/>
              <a:ext cx="9305387" cy="415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48"/>
                </a:lnSpc>
                <a:spcBef>
                  <a:spcPct val="0"/>
                </a:spcBef>
              </a:pPr>
              <a:r>
                <a:rPr lang="en-US" sz="204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A.</a:t>
              </a:r>
              <a:r>
                <a:rPr lang="en-US" sz="204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 Urge</a:t>
              </a:r>
              <a:r>
                <a:rPr lang="en-US" sz="2040" strike="noStrike" u="none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nt language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728784" y="6199224"/>
            <a:ext cx="7326604" cy="741399"/>
            <a:chOff x="0" y="0"/>
            <a:chExt cx="9768805" cy="988532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6416870" cy="988532"/>
              <a:chOff x="0" y="0"/>
              <a:chExt cx="1267530" cy="195266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67530" cy="195266"/>
              </a:xfrm>
              <a:custGeom>
                <a:avLst/>
                <a:gdLst/>
                <a:ahLst/>
                <a:cxnLst/>
                <a:rect r="r" b="b" t="t" l="l"/>
                <a:pathLst>
                  <a:path h="195266" w="1267530">
                    <a:moveTo>
                      <a:pt x="0" y="0"/>
                    </a:moveTo>
                    <a:lnTo>
                      <a:pt x="1267530" y="0"/>
                    </a:lnTo>
                    <a:lnTo>
                      <a:pt x="1267530" y="195266"/>
                    </a:lnTo>
                    <a:lnTo>
                      <a:pt x="0" y="195266"/>
                    </a:lnTo>
                    <a:close/>
                  </a:path>
                </a:pathLst>
              </a:custGeom>
              <a:solidFill>
                <a:srgbClr val="F4F4F4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57150"/>
                <a:ext cx="1267530" cy="2524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72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463418" y="282221"/>
              <a:ext cx="9305387" cy="415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48"/>
                </a:lnSpc>
                <a:spcBef>
                  <a:spcPct val="0"/>
                </a:spcBef>
              </a:pPr>
              <a:r>
                <a:rPr lang="en-US" sz="204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 </a:t>
              </a:r>
              <a:r>
                <a:rPr lang="en-US" sz="204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B</a:t>
              </a:r>
              <a:r>
                <a:rPr lang="en-US" sz="204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.</a:t>
              </a:r>
              <a:r>
                <a:rPr lang="en-US" sz="204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 Suspicious se</a:t>
              </a:r>
              <a:r>
                <a:rPr lang="en-US" sz="2040" strike="noStrike" u="none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nder/domain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728784" y="7159698"/>
            <a:ext cx="7326604" cy="741399"/>
            <a:chOff x="0" y="0"/>
            <a:chExt cx="9768805" cy="988532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6388449" cy="988532"/>
              <a:chOff x="0" y="0"/>
              <a:chExt cx="1261916" cy="195266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261916" cy="195266"/>
              </a:xfrm>
              <a:custGeom>
                <a:avLst/>
                <a:gdLst/>
                <a:ahLst/>
                <a:cxnLst/>
                <a:rect r="r" b="b" t="t" l="l"/>
                <a:pathLst>
                  <a:path h="195266" w="1261916">
                    <a:moveTo>
                      <a:pt x="0" y="0"/>
                    </a:moveTo>
                    <a:lnTo>
                      <a:pt x="1261916" y="0"/>
                    </a:lnTo>
                    <a:lnTo>
                      <a:pt x="1261916" y="195266"/>
                    </a:lnTo>
                    <a:lnTo>
                      <a:pt x="0" y="195266"/>
                    </a:lnTo>
                    <a:close/>
                  </a:path>
                </a:pathLst>
              </a:custGeom>
              <a:solidFill>
                <a:srgbClr val="F4F4F4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57150"/>
                <a:ext cx="1261916" cy="2524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72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463418" y="282221"/>
              <a:ext cx="9305387" cy="415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48"/>
                </a:lnSpc>
                <a:spcBef>
                  <a:spcPct val="0"/>
                </a:spcBef>
              </a:pPr>
              <a:r>
                <a:rPr lang="en-US" sz="204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 </a:t>
              </a:r>
              <a:r>
                <a:rPr lang="en-US" sz="204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C</a:t>
              </a:r>
              <a:r>
                <a:rPr lang="en-US" sz="204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.</a:t>
              </a:r>
              <a:r>
                <a:rPr lang="en-US" sz="204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 Reques</a:t>
              </a:r>
              <a:r>
                <a:rPr lang="en-US" sz="2040" strike="noStrike" u="none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t to click a login link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728784" y="8120173"/>
            <a:ext cx="7326604" cy="741399"/>
            <a:chOff x="0" y="0"/>
            <a:chExt cx="9768805" cy="988532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6388449" cy="988532"/>
              <a:chOff x="0" y="0"/>
              <a:chExt cx="1261916" cy="195266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261916" cy="195266"/>
              </a:xfrm>
              <a:custGeom>
                <a:avLst/>
                <a:gdLst/>
                <a:ahLst/>
                <a:cxnLst/>
                <a:rect r="r" b="b" t="t" l="l"/>
                <a:pathLst>
                  <a:path h="195266" w="1261916">
                    <a:moveTo>
                      <a:pt x="0" y="0"/>
                    </a:moveTo>
                    <a:lnTo>
                      <a:pt x="1261916" y="0"/>
                    </a:lnTo>
                    <a:lnTo>
                      <a:pt x="1261916" y="195266"/>
                    </a:lnTo>
                    <a:lnTo>
                      <a:pt x="0" y="195266"/>
                    </a:lnTo>
                    <a:close/>
                  </a:path>
                </a:pathLst>
              </a:custGeom>
              <a:solidFill>
                <a:srgbClr val="F4F4F4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57150"/>
                <a:ext cx="1261916" cy="2524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72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463418" y="282221"/>
              <a:ext cx="9305387" cy="415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48"/>
                </a:lnSpc>
                <a:spcBef>
                  <a:spcPct val="0"/>
                </a:spcBef>
              </a:pPr>
              <a:r>
                <a:rPr lang="en-US" sz="204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 D. All</a:t>
              </a:r>
              <a:r>
                <a:rPr lang="en-US" sz="204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 of </a:t>
              </a:r>
              <a:r>
                <a:rPr lang="en-US" sz="2040" strike="noStrike" u="none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the above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0280260" y="3221768"/>
            <a:ext cx="6979040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8"/>
              </a:lnSpc>
              <a:spcBef>
                <a:spcPct val="0"/>
              </a:spcBef>
            </a:pPr>
            <a:r>
              <a:rPr lang="en-US" sz="254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W</a:t>
            </a:r>
            <a:r>
              <a:rPr lang="en-US" sz="254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hich signs sugges</a:t>
            </a:r>
            <a:r>
              <a:rPr lang="en-US" sz="2540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</a:p>
          <a:p>
            <a:pPr algn="ctr" marL="0" indent="0" lvl="0">
              <a:lnSpc>
                <a:spcPts val="3048"/>
              </a:lnSpc>
              <a:spcBef>
                <a:spcPct val="0"/>
              </a:spcBef>
            </a:pPr>
            <a:r>
              <a:rPr lang="en-US" sz="2540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 this could be phishing?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4741" y="-2290430"/>
            <a:ext cx="14653207" cy="13920547"/>
          </a:xfrm>
          <a:custGeom>
            <a:avLst/>
            <a:gdLst/>
            <a:ahLst/>
            <a:cxnLst/>
            <a:rect r="r" b="b" t="t" l="l"/>
            <a:pathLst>
              <a:path h="13920547" w="14653207">
                <a:moveTo>
                  <a:pt x="0" y="0"/>
                </a:moveTo>
                <a:lnTo>
                  <a:pt x="14653207" y="0"/>
                </a:lnTo>
                <a:lnTo>
                  <a:pt x="14653207" y="13920547"/>
                </a:lnTo>
                <a:lnTo>
                  <a:pt x="0" y="139205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147977">
            <a:off x="-87690" y="1434443"/>
            <a:ext cx="1700989" cy="417515"/>
          </a:xfrm>
          <a:custGeom>
            <a:avLst/>
            <a:gdLst/>
            <a:ahLst/>
            <a:cxnLst/>
            <a:rect r="r" b="b" t="t" l="l"/>
            <a:pathLst>
              <a:path h="417515" w="1700989">
                <a:moveTo>
                  <a:pt x="0" y="0"/>
                </a:moveTo>
                <a:lnTo>
                  <a:pt x="1700989" y="0"/>
                </a:lnTo>
                <a:lnTo>
                  <a:pt x="1700989" y="417515"/>
                </a:lnTo>
                <a:lnTo>
                  <a:pt x="0" y="4175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147977">
            <a:off x="16749678" y="5458351"/>
            <a:ext cx="1700989" cy="417515"/>
          </a:xfrm>
          <a:custGeom>
            <a:avLst/>
            <a:gdLst/>
            <a:ahLst/>
            <a:cxnLst/>
            <a:rect r="r" b="b" t="t" l="l"/>
            <a:pathLst>
              <a:path h="417515" w="1700989">
                <a:moveTo>
                  <a:pt x="0" y="0"/>
                </a:moveTo>
                <a:lnTo>
                  <a:pt x="1700989" y="0"/>
                </a:lnTo>
                <a:lnTo>
                  <a:pt x="1700989" y="417516"/>
                </a:lnTo>
                <a:lnTo>
                  <a:pt x="0" y="4175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303742" y="1928346"/>
            <a:ext cx="5180051" cy="2900829"/>
          </a:xfrm>
          <a:custGeom>
            <a:avLst/>
            <a:gdLst/>
            <a:ahLst/>
            <a:cxnLst/>
            <a:rect r="r" b="b" t="t" l="l"/>
            <a:pathLst>
              <a:path h="2900829" w="5180051">
                <a:moveTo>
                  <a:pt x="0" y="0"/>
                </a:moveTo>
                <a:lnTo>
                  <a:pt x="5180050" y="0"/>
                </a:lnTo>
                <a:lnTo>
                  <a:pt x="5180050" y="2900829"/>
                </a:lnTo>
                <a:lnTo>
                  <a:pt x="0" y="29008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728784" y="5143500"/>
            <a:ext cx="7326604" cy="741399"/>
            <a:chOff x="0" y="0"/>
            <a:chExt cx="9768805" cy="988532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9486196" cy="988532"/>
              <a:chOff x="0" y="0"/>
              <a:chExt cx="1873816" cy="195266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873816" cy="195266"/>
              </a:xfrm>
              <a:custGeom>
                <a:avLst/>
                <a:gdLst/>
                <a:ahLst/>
                <a:cxnLst/>
                <a:rect r="r" b="b" t="t" l="l"/>
                <a:pathLst>
                  <a:path h="195266" w="1873816">
                    <a:moveTo>
                      <a:pt x="0" y="0"/>
                    </a:moveTo>
                    <a:lnTo>
                      <a:pt x="1873816" y="0"/>
                    </a:lnTo>
                    <a:lnTo>
                      <a:pt x="1873816" y="195266"/>
                    </a:lnTo>
                    <a:lnTo>
                      <a:pt x="0" y="195266"/>
                    </a:lnTo>
                    <a:close/>
                  </a:path>
                </a:pathLst>
              </a:custGeom>
              <a:solidFill>
                <a:srgbClr val="F4F4F4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57150"/>
                <a:ext cx="1873816" cy="2524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72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463418" y="282221"/>
              <a:ext cx="9305387" cy="415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48"/>
                </a:lnSpc>
                <a:spcBef>
                  <a:spcPct val="0"/>
                </a:spcBef>
              </a:pPr>
              <a:r>
                <a:rPr lang="en-US" sz="204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A.</a:t>
              </a:r>
              <a:r>
                <a:rPr lang="en-US" sz="204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 Enter your user</a:t>
              </a:r>
              <a:r>
                <a:rPr lang="en-US" sz="2040" strike="noStrike" u="none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name and password.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728784" y="6199224"/>
            <a:ext cx="7326604" cy="1006920"/>
            <a:chOff x="0" y="0"/>
            <a:chExt cx="9768805" cy="134256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9514617" cy="1342560"/>
              <a:chOff x="0" y="0"/>
              <a:chExt cx="1879430" cy="265197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879430" cy="265197"/>
              </a:xfrm>
              <a:custGeom>
                <a:avLst/>
                <a:gdLst/>
                <a:ahLst/>
                <a:cxnLst/>
                <a:rect r="r" b="b" t="t" l="l"/>
                <a:pathLst>
                  <a:path h="265197" w="1879430">
                    <a:moveTo>
                      <a:pt x="0" y="0"/>
                    </a:moveTo>
                    <a:lnTo>
                      <a:pt x="1879430" y="0"/>
                    </a:lnTo>
                    <a:lnTo>
                      <a:pt x="1879430" y="265197"/>
                    </a:lnTo>
                    <a:lnTo>
                      <a:pt x="0" y="265197"/>
                    </a:lnTo>
                    <a:close/>
                  </a:path>
                </a:pathLst>
              </a:custGeom>
              <a:solidFill>
                <a:srgbClr val="F4F4F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57150"/>
                <a:ext cx="1879430" cy="3223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72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463418" y="282221"/>
              <a:ext cx="9305387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48"/>
                </a:lnSpc>
                <a:spcBef>
                  <a:spcPct val="0"/>
                </a:spcBef>
              </a:pPr>
              <a:r>
                <a:rPr lang="en-US" sz="204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B</a:t>
              </a:r>
              <a:r>
                <a:rPr lang="en-US" sz="204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.</a:t>
              </a:r>
              <a:r>
                <a:rPr lang="en-US" sz="204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 Check the URL and access the bank through its official website or truste</a:t>
              </a:r>
              <a:r>
                <a:rPr lang="en-US" sz="2040" strike="noStrike" u="none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d bookmark.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728784" y="7556427"/>
            <a:ext cx="7326604" cy="741399"/>
            <a:chOff x="0" y="0"/>
            <a:chExt cx="9768805" cy="988532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9545201" cy="988532"/>
              <a:chOff x="0" y="0"/>
              <a:chExt cx="1885472" cy="19526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885472" cy="195266"/>
              </a:xfrm>
              <a:custGeom>
                <a:avLst/>
                <a:gdLst/>
                <a:ahLst/>
                <a:cxnLst/>
                <a:rect r="r" b="b" t="t" l="l"/>
                <a:pathLst>
                  <a:path h="195266" w="1885472">
                    <a:moveTo>
                      <a:pt x="0" y="0"/>
                    </a:moveTo>
                    <a:lnTo>
                      <a:pt x="1885472" y="0"/>
                    </a:lnTo>
                    <a:lnTo>
                      <a:pt x="1885472" y="195266"/>
                    </a:lnTo>
                    <a:lnTo>
                      <a:pt x="0" y="195266"/>
                    </a:lnTo>
                    <a:close/>
                  </a:path>
                </a:pathLst>
              </a:custGeom>
              <a:solidFill>
                <a:srgbClr val="F4F4F4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57150"/>
                <a:ext cx="1885472" cy="2524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72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463418" y="282221"/>
              <a:ext cx="9305387" cy="415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48"/>
                </a:lnSpc>
                <a:spcBef>
                  <a:spcPct val="0"/>
                </a:spcBef>
              </a:pPr>
              <a:r>
                <a:rPr lang="en-US" sz="204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C</a:t>
              </a:r>
              <a:r>
                <a:rPr lang="en-US" sz="204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.</a:t>
              </a:r>
              <a:r>
                <a:rPr lang="en-US" sz="204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 Enter your password bu</a:t>
              </a:r>
              <a:r>
                <a:rPr lang="en-US" sz="2040" strike="noStrike" u="none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t not your OTP.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728784" y="8516901"/>
            <a:ext cx="7326604" cy="984794"/>
            <a:chOff x="0" y="0"/>
            <a:chExt cx="9768805" cy="1313058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9486196" cy="1313058"/>
              <a:chOff x="0" y="0"/>
              <a:chExt cx="1873816" cy="25937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873816" cy="259370"/>
              </a:xfrm>
              <a:custGeom>
                <a:avLst/>
                <a:gdLst/>
                <a:ahLst/>
                <a:cxnLst/>
                <a:rect r="r" b="b" t="t" l="l"/>
                <a:pathLst>
                  <a:path h="259370" w="1873816">
                    <a:moveTo>
                      <a:pt x="0" y="0"/>
                    </a:moveTo>
                    <a:lnTo>
                      <a:pt x="1873816" y="0"/>
                    </a:lnTo>
                    <a:lnTo>
                      <a:pt x="1873816" y="259370"/>
                    </a:lnTo>
                    <a:lnTo>
                      <a:pt x="0" y="259370"/>
                    </a:lnTo>
                    <a:close/>
                  </a:path>
                </a:pathLst>
              </a:custGeom>
              <a:solidFill>
                <a:srgbClr val="F4F4F4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57150"/>
                <a:ext cx="1873816" cy="3165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72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463418" y="282221"/>
              <a:ext cx="9305387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48"/>
                </a:lnSpc>
                <a:spcBef>
                  <a:spcPct val="0"/>
                </a:spcBef>
              </a:pPr>
              <a:r>
                <a:rPr lang="en-US" sz="204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D. C</a:t>
              </a:r>
              <a:r>
                <a:rPr lang="en-US" sz="204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ontinue because </a:t>
              </a:r>
              <a:r>
                <a:rPr lang="en-US" sz="2040" strike="noStrike" u="none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the website looks </a:t>
              </a:r>
            </a:p>
            <a:p>
              <a:pPr algn="l" marL="0" indent="0" lvl="0">
                <a:lnSpc>
                  <a:spcPts val="2448"/>
                </a:lnSpc>
                <a:spcBef>
                  <a:spcPct val="0"/>
                </a:spcBef>
              </a:pPr>
              <a:r>
                <a:rPr lang="en-US" sz="2040" strike="noStrike" u="none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professional.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413060" y="3378761"/>
            <a:ext cx="5916932" cy="4851884"/>
          </a:xfrm>
          <a:custGeom>
            <a:avLst/>
            <a:gdLst/>
            <a:ahLst/>
            <a:cxnLst/>
            <a:rect r="r" b="b" t="t" l="l"/>
            <a:pathLst>
              <a:path h="4851884" w="5916932">
                <a:moveTo>
                  <a:pt x="0" y="0"/>
                </a:moveTo>
                <a:lnTo>
                  <a:pt x="5916932" y="0"/>
                </a:lnTo>
                <a:lnTo>
                  <a:pt x="5916932" y="4851884"/>
                </a:lnTo>
                <a:lnTo>
                  <a:pt x="0" y="48518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6659712" y="1012212"/>
            <a:ext cx="4024481" cy="1106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00"/>
              </a:lnSpc>
              <a:spcBef>
                <a:spcPct val="0"/>
              </a:spcBef>
            </a:pPr>
            <a:r>
              <a:rPr lang="en-US" b="true" sz="8506" strike="noStrike" u="non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Q</a:t>
            </a:r>
            <a:r>
              <a:rPr lang="en-US" b="true" sz="8506" strike="noStrike" u="non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ui</a:t>
            </a:r>
            <a:r>
              <a:rPr lang="en-US" b="true" sz="8506" strike="noStrike" u="non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z 2: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452978" y="3155093"/>
            <a:ext cx="4456589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28"/>
              </a:lnSpc>
              <a:spcBef>
                <a:spcPct val="0"/>
              </a:spcBef>
            </a:pPr>
            <a:r>
              <a:rPr lang="en-US" sz="294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W</a:t>
            </a:r>
            <a:r>
              <a:rPr lang="en-US" sz="294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ha</a:t>
            </a:r>
            <a:r>
              <a:rPr lang="en-US" sz="2940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t should </a:t>
            </a:r>
          </a:p>
          <a:p>
            <a:pPr algn="ctr" marL="0" indent="0" lvl="0">
              <a:lnSpc>
                <a:spcPts val="3528"/>
              </a:lnSpc>
              <a:spcBef>
                <a:spcPct val="0"/>
              </a:spcBef>
            </a:pPr>
            <a:r>
              <a:rPr lang="en-US" sz="2940" strike="noStrike" u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you do?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8700" y="3621818"/>
            <a:ext cx="697904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48"/>
              </a:lnSpc>
              <a:spcBef>
                <a:spcPct val="0"/>
              </a:spcBef>
            </a:pPr>
            <a:r>
              <a:rPr lang="en-US" sz="2040">
                <a:solidFill>
                  <a:srgbClr val="191919"/>
                </a:solidFill>
                <a:latin typeface="Garet"/>
                <a:ea typeface="Garet"/>
                <a:cs typeface="Garet"/>
                <a:sym typeface="Garet"/>
              </a:rPr>
              <a:t>www.myb</a:t>
            </a:r>
            <a:r>
              <a:rPr lang="en-US" sz="2040">
                <a:solidFill>
                  <a:srgbClr val="191919"/>
                </a:solidFill>
                <a:latin typeface="Garet"/>
                <a:ea typeface="Garet"/>
                <a:cs typeface="Garet"/>
                <a:sym typeface="Garet"/>
              </a:rPr>
              <a:t>ank-secure-l</a:t>
            </a:r>
            <a:r>
              <a:rPr lang="en-US" sz="2040" strike="noStrike" u="none">
                <a:solidFill>
                  <a:srgbClr val="191919"/>
                </a:solidFill>
                <a:latin typeface="Garet"/>
                <a:ea typeface="Garet"/>
                <a:cs typeface="Garet"/>
                <a:sym typeface="Garet"/>
              </a:rPr>
              <a:t>ogin.com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522434" y="5504675"/>
            <a:ext cx="3344156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01"/>
              </a:lnSpc>
              <a:spcBef>
                <a:spcPct val="0"/>
              </a:spcBef>
            </a:pPr>
            <a:r>
              <a:rPr lang="en-US" b="true" sz="2084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The page looks exactly like your bank's normal l</a:t>
            </a:r>
            <a:r>
              <a:rPr lang="en-US" b="true" sz="2084" strike="noStrike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ogin page.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761442" y="2288318"/>
            <a:ext cx="697904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8"/>
              </a:lnSpc>
              <a:spcBef>
                <a:spcPct val="0"/>
              </a:spcBef>
            </a:pPr>
            <a:r>
              <a:rPr lang="en-US" sz="2540">
                <a:solidFill>
                  <a:srgbClr val="E5ECF9"/>
                </a:solidFill>
                <a:latin typeface="Garet"/>
                <a:ea typeface="Garet"/>
                <a:cs typeface="Garet"/>
                <a:sym typeface="Garet"/>
              </a:rPr>
              <a:t>You search for your bank's website a</a:t>
            </a:r>
            <a:r>
              <a:rPr lang="en-US" sz="2540" strike="noStrike" u="none">
                <a:solidFill>
                  <a:srgbClr val="E5ECF9"/>
                </a:solidFill>
                <a:latin typeface="Garet"/>
                <a:ea typeface="Garet"/>
                <a:cs typeface="Garet"/>
                <a:sym typeface="Garet"/>
              </a:rPr>
              <a:t>nd see this result: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4741" y="-2290430"/>
            <a:ext cx="14653207" cy="13920547"/>
          </a:xfrm>
          <a:custGeom>
            <a:avLst/>
            <a:gdLst/>
            <a:ahLst/>
            <a:cxnLst/>
            <a:rect r="r" b="b" t="t" l="l"/>
            <a:pathLst>
              <a:path h="13920547" w="14653207">
                <a:moveTo>
                  <a:pt x="0" y="0"/>
                </a:moveTo>
                <a:lnTo>
                  <a:pt x="14653207" y="0"/>
                </a:lnTo>
                <a:lnTo>
                  <a:pt x="14653207" y="13920547"/>
                </a:lnTo>
                <a:lnTo>
                  <a:pt x="0" y="139205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147977">
            <a:off x="-87690" y="1434443"/>
            <a:ext cx="1700989" cy="417515"/>
          </a:xfrm>
          <a:custGeom>
            <a:avLst/>
            <a:gdLst/>
            <a:ahLst/>
            <a:cxnLst/>
            <a:rect r="r" b="b" t="t" l="l"/>
            <a:pathLst>
              <a:path h="417515" w="1700989">
                <a:moveTo>
                  <a:pt x="0" y="0"/>
                </a:moveTo>
                <a:lnTo>
                  <a:pt x="1700989" y="0"/>
                </a:lnTo>
                <a:lnTo>
                  <a:pt x="1700989" y="417515"/>
                </a:lnTo>
                <a:lnTo>
                  <a:pt x="0" y="4175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147977">
            <a:off x="16749678" y="5458351"/>
            <a:ext cx="1700989" cy="417515"/>
          </a:xfrm>
          <a:custGeom>
            <a:avLst/>
            <a:gdLst/>
            <a:ahLst/>
            <a:cxnLst/>
            <a:rect r="r" b="b" t="t" l="l"/>
            <a:pathLst>
              <a:path h="417515" w="1700989">
                <a:moveTo>
                  <a:pt x="0" y="0"/>
                </a:moveTo>
                <a:lnTo>
                  <a:pt x="1700989" y="0"/>
                </a:lnTo>
                <a:lnTo>
                  <a:pt x="1700989" y="417516"/>
                </a:lnTo>
                <a:lnTo>
                  <a:pt x="0" y="4175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663429">
            <a:off x="1172938" y="3753180"/>
            <a:ext cx="5195467" cy="4779830"/>
          </a:xfrm>
          <a:custGeom>
            <a:avLst/>
            <a:gdLst/>
            <a:ahLst/>
            <a:cxnLst/>
            <a:rect r="r" b="b" t="t" l="l"/>
            <a:pathLst>
              <a:path h="4779830" w="5195467">
                <a:moveTo>
                  <a:pt x="0" y="0"/>
                </a:moveTo>
                <a:lnTo>
                  <a:pt x="5195468" y="0"/>
                </a:lnTo>
                <a:lnTo>
                  <a:pt x="5195468" y="4779830"/>
                </a:lnTo>
                <a:lnTo>
                  <a:pt x="0" y="47798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055179" y="1209675"/>
            <a:ext cx="9812331" cy="1106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00"/>
              </a:lnSpc>
              <a:spcBef>
                <a:spcPct val="0"/>
              </a:spcBef>
            </a:pPr>
            <a:r>
              <a:rPr lang="en-US" b="true" sz="8506" strike="noStrike" u="non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F</a:t>
            </a:r>
            <a:r>
              <a:rPr lang="en-US" b="true" sz="8506" strike="noStrike" u="non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inal</a:t>
            </a:r>
            <a:r>
              <a:rPr lang="en-US" b="true" sz="8506" strike="noStrike" u="non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8506" strike="noStrike" u="non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Takeawa</a:t>
            </a:r>
            <a:r>
              <a:rPr lang="en-US" b="true" sz="8506" strike="noStrike" u="non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ys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187102" y="2798452"/>
            <a:ext cx="5469839" cy="6967947"/>
          </a:xfrm>
          <a:custGeom>
            <a:avLst/>
            <a:gdLst/>
            <a:ahLst/>
            <a:cxnLst/>
            <a:rect r="r" b="b" t="t" l="l"/>
            <a:pathLst>
              <a:path h="6967947" w="5469839">
                <a:moveTo>
                  <a:pt x="0" y="0"/>
                </a:moveTo>
                <a:lnTo>
                  <a:pt x="5469839" y="0"/>
                </a:lnTo>
                <a:lnTo>
                  <a:pt x="5469839" y="6967947"/>
                </a:lnTo>
                <a:lnTo>
                  <a:pt x="0" y="69679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531026" y="3019497"/>
            <a:ext cx="5125915" cy="279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8"/>
              </a:lnSpc>
              <a:spcBef>
                <a:spcPct val="0"/>
              </a:spcBef>
            </a:pPr>
            <a:r>
              <a:rPr lang="en-US" sz="1865">
                <a:solidFill>
                  <a:srgbClr val="191919"/>
                </a:solidFill>
                <a:latin typeface="Garet"/>
                <a:ea typeface="Garet"/>
                <a:cs typeface="Garet"/>
                <a:sym typeface="Garet"/>
              </a:rPr>
              <a:t>STOP → CHECK → VERIFY</a:t>
            </a:r>
            <a:r>
              <a:rPr lang="en-US" sz="1865" strike="noStrike" u="none">
                <a:solidFill>
                  <a:srgbClr val="191919"/>
                </a:solidFill>
                <a:latin typeface="Garet"/>
                <a:ea typeface="Garet"/>
                <a:cs typeface="Garet"/>
                <a:sym typeface="Garet"/>
              </a:rPr>
              <a:t> → REPORT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359064" y="3777192"/>
            <a:ext cx="512591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3907" indent="-276953" lvl="1">
              <a:lnSpc>
                <a:spcPts val="3078"/>
              </a:lnSpc>
              <a:buFont typeface="Arial"/>
              <a:buChar char="•"/>
            </a:pPr>
            <a:r>
              <a:rPr lang="en-US" b="true" sz="2565">
                <a:solidFill>
                  <a:srgbClr val="F70000"/>
                </a:solidFill>
                <a:latin typeface="Garet Bold"/>
                <a:ea typeface="Garet Bold"/>
                <a:cs typeface="Garet Bold"/>
                <a:sym typeface="Garet Bold"/>
              </a:rPr>
              <a:t>STOP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359064" y="5143500"/>
            <a:ext cx="512591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3907" indent="-276953" lvl="1">
              <a:lnSpc>
                <a:spcPts val="3078"/>
              </a:lnSpc>
              <a:buFont typeface="Arial"/>
              <a:buChar char="•"/>
            </a:pPr>
            <a:r>
              <a:rPr lang="en-US" b="true" sz="2565">
                <a:solidFill>
                  <a:srgbClr val="F70000"/>
                </a:solidFill>
                <a:latin typeface="Garet Bold"/>
                <a:ea typeface="Garet Bold"/>
                <a:cs typeface="Garet Bold"/>
                <a:sym typeface="Garet Bold"/>
              </a:rPr>
              <a:t>CHECK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359064" y="6509808"/>
            <a:ext cx="512591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3907" indent="-276953" lvl="1">
              <a:lnSpc>
                <a:spcPts val="3078"/>
              </a:lnSpc>
              <a:buFont typeface="Arial"/>
              <a:buChar char="•"/>
            </a:pPr>
            <a:r>
              <a:rPr lang="en-US" b="true" sz="2565">
                <a:solidFill>
                  <a:srgbClr val="F70000"/>
                </a:solidFill>
                <a:latin typeface="Garet Bold"/>
                <a:ea typeface="Garet Bold"/>
                <a:cs typeface="Garet Bold"/>
                <a:sym typeface="Garet Bold"/>
              </a:rPr>
              <a:t>VERIFY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359064" y="8021635"/>
            <a:ext cx="512591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3907" indent="-276953" lvl="1">
              <a:lnSpc>
                <a:spcPts val="3078"/>
              </a:lnSpc>
              <a:buFont typeface="Arial"/>
              <a:buChar char="•"/>
            </a:pPr>
            <a:r>
              <a:rPr lang="en-US" b="true" sz="2565">
                <a:solidFill>
                  <a:srgbClr val="F70000"/>
                </a:solidFill>
                <a:latin typeface="Garet Bold"/>
                <a:ea typeface="Garet Bold"/>
                <a:cs typeface="Garet Bold"/>
                <a:sym typeface="Garet Bold"/>
              </a:rPr>
              <a:t>REPORT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61344" y="4379383"/>
            <a:ext cx="4399209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81"/>
              </a:lnSpc>
              <a:spcBef>
                <a:spcPct val="0"/>
              </a:spcBef>
            </a:pPr>
            <a:r>
              <a:rPr lang="en-US" sz="1901">
                <a:solidFill>
                  <a:srgbClr val="191919"/>
                </a:solidFill>
                <a:latin typeface="Garet"/>
                <a:ea typeface="Garet"/>
                <a:cs typeface="Garet"/>
                <a:sym typeface="Garet"/>
              </a:rPr>
              <a:t>Don't react immediately to unexpecte</a:t>
            </a:r>
            <a:r>
              <a:rPr lang="en-US" sz="1901" strike="noStrike" u="none">
                <a:solidFill>
                  <a:srgbClr val="191919"/>
                </a:solidFill>
                <a:latin typeface="Garet"/>
                <a:ea typeface="Garet"/>
                <a:cs typeface="Garet"/>
                <a:sym typeface="Garet"/>
              </a:rPr>
              <a:t>d or urgent messages.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961344" y="5676634"/>
            <a:ext cx="4399209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81"/>
              </a:lnSpc>
              <a:spcBef>
                <a:spcPct val="0"/>
              </a:spcBef>
            </a:pPr>
            <a:r>
              <a:rPr lang="en-US" sz="1901">
                <a:solidFill>
                  <a:srgbClr val="191919"/>
                </a:solidFill>
                <a:latin typeface="Garet"/>
                <a:ea typeface="Garet"/>
                <a:cs typeface="Garet"/>
                <a:sym typeface="Garet"/>
              </a:rPr>
              <a:t>Look carefully at the sender, links, attachments, an</a:t>
            </a:r>
            <a:r>
              <a:rPr lang="en-US" sz="1901" strike="noStrike" u="none">
                <a:solidFill>
                  <a:srgbClr val="191919"/>
                </a:solidFill>
                <a:latin typeface="Garet"/>
                <a:ea typeface="Garet"/>
                <a:cs typeface="Garet"/>
                <a:sym typeface="Garet"/>
              </a:rPr>
              <a:t>d wording.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961344" y="6973885"/>
            <a:ext cx="4399209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81"/>
              </a:lnSpc>
              <a:spcBef>
                <a:spcPct val="0"/>
              </a:spcBef>
            </a:pPr>
            <a:r>
              <a:rPr lang="en-US" sz="1901">
                <a:solidFill>
                  <a:srgbClr val="191919"/>
                </a:solidFill>
                <a:latin typeface="Garet"/>
                <a:ea typeface="Garet"/>
                <a:cs typeface="Garet"/>
                <a:sym typeface="Garet"/>
              </a:rPr>
              <a:t>Use an official website or trusted contact method to confirm the</a:t>
            </a:r>
            <a:r>
              <a:rPr lang="en-US" sz="1901" strike="noStrike" u="none">
                <a:solidFill>
                  <a:srgbClr val="191919"/>
                </a:solidFill>
                <a:latin typeface="Garet"/>
                <a:ea typeface="Garet"/>
                <a:cs typeface="Garet"/>
                <a:sym typeface="Garet"/>
              </a:rPr>
              <a:t> request.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894379" y="8488360"/>
            <a:ext cx="4399209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81"/>
              </a:lnSpc>
              <a:spcBef>
                <a:spcPct val="0"/>
              </a:spcBef>
            </a:pPr>
            <a:r>
              <a:rPr lang="en-US" sz="1901">
                <a:solidFill>
                  <a:srgbClr val="191919"/>
                </a:solidFill>
                <a:latin typeface="Garet"/>
                <a:ea typeface="Garet"/>
                <a:cs typeface="Garet"/>
                <a:sym typeface="Garet"/>
              </a:rPr>
              <a:t>Report suspicious messages to your organization or the</a:t>
            </a:r>
            <a:r>
              <a:rPr lang="en-US" sz="1901" strike="noStrike" u="none">
                <a:solidFill>
                  <a:srgbClr val="191919"/>
                </a:solidFill>
                <a:latin typeface="Garet"/>
                <a:ea typeface="Garet"/>
                <a:cs typeface="Garet"/>
                <a:sym typeface="Garet"/>
              </a:rPr>
              <a:t> relevant authority.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4741" y="-2290430"/>
            <a:ext cx="14653207" cy="13920547"/>
          </a:xfrm>
          <a:custGeom>
            <a:avLst/>
            <a:gdLst/>
            <a:ahLst/>
            <a:cxnLst/>
            <a:rect r="r" b="b" t="t" l="l"/>
            <a:pathLst>
              <a:path h="13920547" w="14653207">
                <a:moveTo>
                  <a:pt x="0" y="0"/>
                </a:moveTo>
                <a:lnTo>
                  <a:pt x="14653207" y="0"/>
                </a:lnTo>
                <a:lnTo>
                  <a:pt x="14653207" y="13920547"/>
                </a:lnTo>
                <a:lnTo>
                  <a:pt x="0" y="139205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147977">
            <a:off x="-87690" y="1434443"/>
            <a:ext cx="1700989" cy="417515"/>
          </a:xfrm>
          <a:custGeom>
            <a:avLst/>
            <a:gdLst/>
            <a:ahLst/>
            <a:cxnLst/>
            <a:rect r="r" b="b" t="t" l="l"/>
            <a:pathLst>
              <a:path h="417515" w="1700989">
                <a:moveTo>
                  <a:pt x="0" y="0"/>
                </a:moveTo>
                <a:lnTo>
                  <a:pt x="1700989" y="0"/>
                </a:lnTo>
                <a:lnTo>
                  <a:pt x="1700989" y="417515"/>
                </a:lnTo>
                <a:lnTo>
                  <a:pt x="0" y="4175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147977">
            <a:off x="16749678" y="5458351"/>
            <a:ext cx="1700989" cy="417515"/>
          </a:xfrm>
          <a:custGeom>
            <a:avLst/>
            <a:gdLst/>
            <a:ahLst/>
            <a:cxnLst/>
            <a:rect r="r" b="b" t="t" l="l"/>
            <a:pathLst>
              <a:path h="417515" w="1700989">
                <a:moveTo>
                  <a:pt x="0" y="0"/>
                </a:moveTo>
                <a:lnTo>
                  <a:pt x="1700989" y="0"/>
                </a:lnTo>
                <a:lnTo>
                  <a:pt x="1700989" y="417516"/>
                </a:lnTo>
                <a:lnTo>
                  <a:pt x="0" y="4175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118502" y="2461590"/>
            <a:ext cx="12050996" cy="609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48"/>
              </a:lnSpc>
            </a:pPr>
            <a:r>
              <a:rPr lang="en-US" sz="2540">
                <a:solidFill>
                  <a:srgbClr val="E5ECF9"/>
                </a:solidFill>
                <a:latin typeface="Garet"/>
                <a:ea typeface="Garet"/>
                <a:cs typeface="Garet"/>
                <a:sym typeface="Garet"/>
              </a:rPr>
              <a:t>Federal Trade Commission (FTC)</a:t>
            </a:r>
          </a:p>
          <a:p>
            <a:pPr algn="just">
              <a:lnSpc>
                <a:spcPts val="3048"/>
              </a:lnSpc>
            </a:pPr>
            <a:r>
              <a:rPr lang="en-US" sz="2540">
                <a:solidFill>
                  <a:srgbClr val="E5ECF9"/>
                </a:solidFill>
                <a:latin typeface="Garet"/>
                <a:ea typeface="Garet"/>
                <a:cs typeface="Garet"/>
                <a:sym typeface="Garet"/>
              </a:rPr>
              <a:t>H</a:t>
            </a:r>
            <a:r>
              <a:rPr lang="en-US" sz="2540">
                <a:solidFill>
                  <a:srgbClr val="E5ECF9"/>
                </a:solidFill>
                <a:latin typeface="Garet"/>
                <a:ea typeface="Garet"/>
                <a:cs typeface="Garet"/>
                <a:sym typeface="Garet"/>
              </a:rPr>
              <a:t>ow To Recognize and Avoid Phishing Scams</a:t>
            </a:r>
          </a:p>
          <a:p>
            <a:pPr algn="just">
              <a:lnSpc>
                <a:spcPts val="3048"/>
              </a:lnSpc>
            </a:pPr>
            <a:r>
              <a:rPr lang="en-US" sz="2540" u="sng">
                <a:solidFill>
                  <a:srgbClr val="E5ECF9"/>
                </a:solidFill>
                <a:latin typeface="Garet"/>
                <a:ea typeface="Garet"/>
                <a:cs typeface="Garet"/>
                <a:sym typeface="Garet"/>
                <a:hlinkClick r:id="rId6" tooltip="https://consumer.ftc.gov/articles/how-recognize-avoid-phishing-scams?utm_source=chatgpt.com"/>
              </a:rPr>
              <a:t>FTC — How To Recognize and Avoid Phishing Scams</a:t>
            </a:r>
          </a:p>
          <a:p>
            <a:pPr algn="just">
              <a:lnSpc>
                <a:spcPts val="3048"/>
              </a:lnSpc>
            </a:pPr>
            <a:r>
              <a:rPr lang="en-US" sz="2540">
                <a:solidFill>
                  <a:srgbClr val="E5ECF9"/>
                </a:solidFill>
                <a:latin typeface="Garet"/>
                <a:ea typeface="Garet"/>
                <a:cs typeface="Garet"/>
                <a:sym typeface="Garet"/>
              </a:rPr>
              <a:t>Federal Bureau of Investigation (FBI)</a:t>
            </a:r>
          </a:p>
          <a:p>
            <a:pPr algn="just">
              <a:lnSpc>
                <a:spcPts val="3048"/>
              </a:lnSpc>
            </a:pPr>
            <a:r>
              <a:rPr lang="en-US" sz="2540">
                <a:solidFill>
                  <a:srgbClr val="E5ECF9"/>
                </a:solidFill>
                <a:latin typeface="Garet"/>
                <a:ea typeface="Garet"/>
                <a:cs typeface="Garet"/>
                <a:sym typeface="Garet"/>
              </a:rPr>
              <a:t>Spoofing and Phishing</a:t>
            </a:r>
          </a:p>
          <a:p>
            <a:pPr algn="just">
              <a:lnSpc>
                <a:spcPts val="3048"/>
              </a:lnSpc>
            </a:pPr>
            <a:r>
              <a:rPr lang="en-US" sz="2540" u="sng">
                <a:solidFill>
                  <a:srgbClr val="E5ECF9"/>
                </a:solidFill>
                <a:latin typeface="Garet"/>
                <a:ea typeface="Garet"/>
                <a:cs typeface="Garet"/>
                <a:sym typeface="Garet"/>
                <a:hlinkClick r:id="rId7" tooltip="https://www.fbi.gov/how-we-can-help-you/common-frauds-and-scams/spoofing-and-phishing?utm_source=chatgpt.com"/>
              </a:rPr>
              <a:t>FBI — Spoofing and Phishing</a:t>
            </a:r>
          </a:p>
          <a:p>
            <a:pPr algn="just">
              <a:lnSpc>
                <a:spcPts val="3048"/>
              </a:lnSpc>
            </a:pPr>
            <a:r>
              <a:rPr lang="en-US" sz="2540">
                <a:solidFill>
                  <a:srgbClr val="E5ECF9"/>
                </a:solidFill>
                <a:latin typeface="Garet"/>
                <a:ea typeface="Garet"/>
                <a:cs typeface="Garet"/>
                <a:sym typeface="Garet"/>
              </a:rPr>
              <a:t>Federal Bureau of Investigation (FBI)</a:t>
            </a:r>
          </a:p>
          <a:p>
            <a:pPr algn="just">
              <a:lnSpc>
                <a:spcPts val="3048"/>
              </a:lnSpc>
            </a:pPr>
            <a:r>
              <a:rPr lang="en-US" sz="2540">
                <a:solidFill>
                  <a:srgbClr val="E5ECF9"/>
                </a:solidFill>
                <a:latin typeface="Garet"/>
                <a:ea typeface="Garet"/>
                <a:cs typeface="Garet"/>
                <a:sym typeface="Garet"/>
              </a:rPr>
              <a:t>Threat Actors Spoofing the FBI IC3 Website — September 19, 2025</a:t>
            </a:r>
          </a:p>
          <a:p>
            <a:pPr algn="just">
              <a:lnSpc>
                <a:spcPts val="3048"/>
              </a:lnSpc>
            </a:pPr>
            <a:r>
              <a:rPr lang="en-US" sz="2540" u="sng">
                <a:solidFill>
                  <a:srgbClr val="E5ECF9"/>
                </a:solidFill>
                <a:latin typeface="Garet"/>
                <a:ea typeface="Garet"/>
                <a:cs typeface="Garet"/>
                <a:sym typeface="Garet"/>
                <a:hlinkClick r:id="rId8" tooltip="https://www.fbi.gov/investigate/cyber/alerts/2025/threat-actors-spoofing-the-fbi-ic3-website-for-possible-malicious-activity?utm_source=chatgpt.com"/>
              </a:rPr>
              <a:t>FBI — IC3 Spoofing Alert</a:t>
            </a:r>
          </a:p>
          <a:p>
            <a:pPr algn="just" marL="0" indent="0" lvl="0">
              <a:lnSpc>
                <a:spcPts val="3048"/>
              </a:lnSpc>
              <a:spcBef>
                <a:spcPct val="0"/>
              </a:spcBef>
            </a:pPr>
            <a:r>
              <a:rPr lang="en-US" sz="2540">
                <a:solidFill>
                  <a:srgbClr val="E5ECF9"/>
                </a:solidFill>
                <a:latin typeface="Garet"/>
                <a:ea typeface="Garet"/>
                <a:cs typeface="Garet"/>
                <a:sym typeface="Garet"/>
              </a:rPr>
              <a:t>Federal Bureau of I</a:t>
            </a:r>
            <a:r>
              <a:rPr lang="en-US" sz="2540" strike="noStrike" u="none">
                <a:solidFill>
                  <a:srgbClr val="E5ECF9"/>
                </a:solidFill>
                <a:latin typeface="Garet"/>
                <a:ea typeface="Garet"/>
                <a:cs typeface="Garet"/>
                <a:sym typeface="Garet"/>
              </a:rPr>
              <a:t>nvestigation (FBI)</a:t>
            </a:r>
          </a:p>
          <a:p>
            <a:pPr algn="just" marL="0" indent="0" lvl="0">
              <a:lnSpc>
                <a:spcPts val="3048"/>
              </a:lnSpc>
              <a:spcBef>
                <a:spcPct val="0"/>
              </a:spcBef>
            </a:pPr>
            <a:r>
              <a:rPr lang="en-US" sz="2540" strike="noStrike" u="none">
                <a:solidFill>
                  <a:srgbClr val="E5ECF9"/>
                </a:solidFill>
                <a:latin typeface="Garet"/>
                <a:ea typeface="Garet"/>
                <a:cs typeface="Garet"/>
                <a:sym typeface="Garet"/>
              </a:rPr>
              <a:t>Cybercriminals Impersonating Employee Self-Service Websites</a:t>
            </a:r>
          </a:p>
          <a:p>
            <a:pPr algn="just" marL="0" indent="0" lvl="0">
              <a:lnSpc>
                <a:spcPts val="3048"/>
              </a:lnSpc>
              <a:spcBef>
                <a:spcPct val="0"/>
              </a:spcBef>
            </a:pPr>
            <a:r>
              <a:rPr lang="en-US" sz="2540" strike="noStrike" u="sng">
                <a:solidFill>
                  <a:srgbClr val="E5ECF9"/>
                </a:solidFill>
                <a:latin typeface="Garet"/>
                <a:ea typeface="Garet"/>
                <a:cs typeface="Garet"/>
                <a:sym typeface="Garet"/>
                <a:hlinkClick r:id="rId9" tooltip="https://www.fbi.gov/investigate/cyber/alerts/2025/cybercriminals-impersonating-employee-self-service-websites-to-steal-victim-information-and-funds?utm_source=chatgpt.com"/>
              </a:rPr>
              <a:t>FBI — Employee Self-Service Phishing Alert</a:t>
            </a:r>
          </a:p>
          <a:p>
            <a:pPr algn="just" marL="0" indent="0" lvl="0">
              <a:lnSpc>
                <a:spcPts val="3048"/>
              </a:lnSpc>
              <a:spcBef>
                <a:spcPct val="0"/>
              </a:spcBef>
            </a:pPr>
            <a:r>
              <a:rPr lang="en-US" sz="2540" strike="noStrike" u="none">
                <a:solidFill>
                  <a:srgbClr val="E5ECF9"/>
                </a:solidFill>
                <a:latin typeface="Garet"/>
                <a:ea typeface="Garet"/>
                <a:cs typeface="Garet"/>
                <a:sym typeface="Garet"/>
              </a:rPr>
              <a:t>Federal Trade Commission (FTC)</a:t>
            </a:r>
          </a:p>
          <a:p>
            <a:pPr algn="just" marL="0" indent="0" lvl="0">
              <a:lnSpc>
                <a:spcPts val="3048"/>
              </a:lnSpc>
              <a:spcBef>
                <a:spcPct val="0"/>
              </a:spcBef>
            </a:pPr>
            <a:r>
              <a:rPr lang="en-US" sz="2540" strike="noStrike" u="none">
                <a:solidFill>
                  <a:srgbClr val="E5ECF9"/>
                </a:solidFill>
                <a:latin typeface="Garet"/>
                <a:ea typeface="Garet"/>
                <a:cs typeface="Garet"/>
                <a:sym typeface="Garet"/>
              </a:rPr>
              <a:t>Protect Yourself From Phishing Scams</a:t>
            </a:r>
          </a:p>
          <a:p>
            <a:pPr algn="just" marL="0" indent="0" lvl="0">
              <a:lnSpc>
                <a:spcPts val="3048"/>
              </a:lnSpc>
              <a:spcBef>
                <a:spcPct val="0"/>
              </a:spcBef>
            </a:pPr>
            <a:r>
              <a:rPr lang="en-US" sz="2540" strike="noStrike" u="sng">
                <a:solidFill>
                  <a:srgbClr val="E5ECF9"/>
                </a:solidFill>
                <a:latin typeface="Garet"/>
                <a:ea typeface="Garet"/>
                <a:cs typeface="Garet"/>
                <a:sym typeface="Garet"/>
                <a:hlinkClick r:id="rId10" tooltip="https://consumer.ftc.gov/consumer-alerts/2025/04/protect-yourself-phishing-scams?utm_source=chatgpt.com"/>
              </a:rPr>
              <a:t>FTC — Protect Yourself From Phishing Scams</a:t>
            </a:r>
          </a:p>
          <a:p>
            <a:pPr algn="just" marL="0" indent="0" lvl="0">
              <a:lnSpc>
                <a:spcPts val="3048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055179" y="1012212"/>
            <a:ext cx="9812331" cy="1106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00"/>
              </a:lnSpc>
              <a:spcBef>
                <a:spcPct val="0"/>
              </a:spcBef>
            </a:pPr>
            <a:r>
              <a:rPr lang="en-US" b="true" sz="8506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Refere</a:t>
            </a:r>
            <a:r>
              <a:rPr lang="en-US" b="true" sz="8506" strike="noStrike" u="non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n</a:t>
            </a:r>
            <a:r>
              <a:rPr lang="en-US" b="true" sz="8506" strike="noStrike" u="non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c</a:t>
            </a:r>
            <a:r>
              <a:rPr lang="en-US" b="true" sz="8506" strike="noStrike" u="non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es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4741" y="-2290430"/>
            <a:ext cx="14653207" cy="13920547"/>
          </a:xfrm>
          <a:custGeom>
            <a:avLst/>
            <a:gdLst/>
            <a:ahLst/>
            <a:cxnLst/>
            <a:rect r="r" b="b" t="t" l="l"/>
            <a:pathLst>
              <a:path h="13920547" w="14653207">
                <a:moveTo>
                  <a:pt x="0" y="0"/>
                </a:moveTo>
                <a:lnTo>
                  <a:pt x="14653207" y="0"/>
                </a:lnTo>
                <a:lnTo>
                  <a:pt x="14653207" y="13920547"/>
                </a:lnTo>
                <a:lnTo>
                  <a:pt x="0" y="139205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63661" y="4030132"/>
            <a:ext cx="7595367" cy="3590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49"/>
              </a:lnSpc>
            </a:pPr>
            <a:r>
              <a:rPr lang="en-US" sz="14999" b="true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THANK </a:t>
            </a:r>
          </a:p>
          <a:p>
            <a:pPr algn="ctr" marL="0" indent="0" lvl="0">
              <a:lnSpc>
                <a:spcPts val="13049"/>
              </a:lnSpc>
              <a:spcBef>
                <a:spcPct val="0"/>
              </a:spcBef>
            </a:pPr>
            <a:r>
              <a:rPr lang="en-US" b="true" sz="14999">
                <a:solidFill>
                  <a:srgbClr val="E5ECF9"/>
                </a:solidFill>
                <a:latin typeface="Poppins Bold"/>
                <a:ea typeface="Poppins Bold"/>
                <a:cs typeface="Poppins Bold"/>
                <a:sym typeface="Poppins Bold"/>
              </a:rPr>
              <a:t>YOU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1147977">
            <a:off x="-87690" y="1434443"/>
            <a:ext cx="1700989" cy="417515"/>
          </a:xfrm>
          <a:custGeom>
            <a:avLst/>
            <a:gdLst/>
            <a:ahLst/>
            <a:cxnLst/>
            <a:rect r="r" b="b" t="t" l="l"/>
            <a:pathLst>
              <a:path h="417515" w="1700989">
                <a:moveTo>
                  <a:pt x="0" y="0"/>
                </a:moveTo>
                <a:lnTo>
                  <a:pt x="1700989" y="0"/>
                </a:lnTo>
                <a:lnTo>
                  <a:pt x="1700989" y="417515"/>
                </a:lnTo>
                <a:lnTo>
                  <a:pt x="0" y="4175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147977">
            <a:off x="16749678" y="5458351"/>
            <a:ext cx="1700989" cy="417515"/>
          </a:xfrm>
          <a:custGeom>
            <a:avLst/>
            <a:gdLst/>
            <a:ahLst/>
            <a:cxnLst/>
            <a:rect r="r" b="b" t="t" l="l"/>
            <a:pathLst>
              <a:path h="417515" w="1700989">
                <a:moveTo>
                  <a:pt x="0" y="0"/>
                </a:moveTo>
                <a:lnTo>
                  <a:pt x="1700989" y="0"/>
                </a:lnTo>
                <a:lnTo>
                  <a:pt x="1700989" y="417516"/>
                </a:lnTo>
                <a:lnTo>
                  <a:pt x="0" y="4175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DAHV1e3COtM</dc:identifier>
  <dcterms:modified xsi:type="dcterms:W3CDTF">2011-08-01T06:04:30Z</dcterms:modified>
  <cp:revision>1</cp:revision>
  <dc:title>Phishing Awareness Training</dc:title>
</cp:coreProperties>
</file>